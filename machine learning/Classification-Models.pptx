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</p:sldIdLst>
  <p:sldSz cx="9144000" cy="5149850"/>
  <p:notesSz cx="9144000" cy="5149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922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74675" y="427100"/>
            <a:ext cx="8194649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0000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31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 u="heavy">
                <a:solidFill>
                  <a:srgbClr val="FF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0000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31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 u="heavy">
                <a:solidFill>
                  <a:srgbClr val="FF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0000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31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 u="heavy">
                <a:solidFill>
                  <a:srgbClr val="FF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0000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31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0000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31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4675" y="427100"/>
            <a:ext cx="447421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 u="heavy">
                <a:solidFill>
                  <a:srgbClr val="FF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9816" y="1133043"/>
            <a:ext cx="8024367" cy="18561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81330" y="4579751"/>
            <a:ext cx="360045" cy="309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FF0000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31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12509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Age</a:t>
            </a:r>
            <a:r>
              <a:rPr dirty="0"/>
              <a:t>n</a:t>
            </a:r>
            <a:r>
              <a:rPr spc="-5" dirty="0"/>
              <a:t>da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1330" y="4579751"/>
            <a:ext cx="217804" cy="30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1</a:t>
            </a:fld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691" y="1268679"/>
            <a:ext cx="5814060" cy="27832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9570" indent="-357505">
              <a:lnSpc>
                <a:spcPct val="100000"/>
              </a:lnSpc>
              <a:spcBef>
                <a:spcPts val="105"/>
              </a:spcBef>
              <a:buFont typeface="Segoe UI Symbol"/>
              <a:buChar char="➔"/>
              <a:tabLst>
                <a:tab pos="370205" algn="l"/>
              </a:tabLst>
            </a:pPr>
            <a:r>
              <a:rPr sz="2000" spc="-15" dirty="0">
                <a:latin typeface="Calibri"/>
                <a:cs typeface="Calibri"/>
              </a:rPr>
              <a:t>Classification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-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Decision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Tree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Segoe UI Symbol"/>
              <a:buChar char="➔"/>
            </a:pPr>
            <a:endParaRPr sz="2000">
              <a:latin typeface="Calibri"/>
              <a:cs typeface="Calibri"/>
            </a:endParaRPr>
          </a:p>
          <a:p>
            <a:pPr marL="369570" indent="-357505">
              <a:lnSpc>
                <a:spcPct val="100000"/>
              </a:lnSpc>
              <a:buFont typeface="Segoe UI Symbol"/>
              <a:buChar char="➔"/>
              <a:tabLst>
                <a:tab pos="370205" algn="l"/>
              </a:tabLst>
            </a:pPr>
            <a:r>
              <a:rPr sz="2000" spc="-15" dirty="0">
                <a:latin typeface="Calibri"/>
                <a:cs typeface="Calibri"/>
              </a:rPr>
              <a:t>Ensemble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Methods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Segoe UI Symbol"/>
              <a:buChar char="➔"/>
            </a:pPr>
            <a:endParaRPr sz="1950">
              <a:latin typeface="Calibri"/>
              <a:cs typeface="Calibri"/>
            </a:endParaRPr>
          </a:p>
          <a:p>
            <a:pPr marL="369570" indent="-357505">
              <a:lnSpc>
                <a:spcPct val="100000"/>
              </a:lnSpc>
              <a:buFont typeface="Segoe UI Symbol"/>
              <a:buChar char="➔"/>
              <a:tabLst>
                <a:tab pos="370205" algn="l"/>
              </a:tabLst>
            </a:pPr>
            <a:r>
              <a:rPr sz="2000" spc="-15" dirty="0">
                <a:latin typeface="Calibri"/>
                <a:cs typeface="Calibri"/>
              </a:rPr>
              <a:t>Classification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-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Random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Forest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Segoe UI Symbol"/>
              <a:buChar char="➔"/>
            </a:pPr>
            <a:endParaRPr sz="1950">
              <a:latin typeface="Calibri"/>
              <a:cs typeface="Calibri"/>
            </a:endParaRPr>
          </a:p>
          <a:p>
            <a:pPr marL="369570" indent="-357505">
              <a:lnSpc>
                <a:spcPct val="100000"/>
              </a:lnSpc>
              <a:buFont typeface="Segoe UI Symbol"/>
              <a:buChar char="➔"/>
              <a:tabLst>
                <a:tab pos="370205" algn="l"/>
              </a:tabLst>
            </a:pPr>
            <a:r>
              <a:rPr sz="2000" spc="-15" dirty="0">
                <a:latin typeface="Calibri"/>
                <a:cs typeface="Calibri"/>
              </a:rPr>
              <a:t>Classification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-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Ensemble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Methods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(XGBoost)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Segoe UI Symbol"/>
              <a:buChar char="➔"/>
            </a:pPr>
            <a:endParaRPr sz="1950">
              <a:latin typeface="Calibri"/>
              <a:cs typeface="Calibri"/>
            </a:endParaRPr>
          </a:p>
          <a:p>
            <a:pPr marL="369570" indent="-357505">
              <a:lnSpc>
                <a:spcPct val="100000"/>
              </a:lnSpc>
              <a:buFont typeface="Segoe UI Symbol"/>
              <a:buChar char="➔"/>
              <a:tabLst>
                <a:tab pos="370205" algn="l"/>
              </a:tabLst>
            </a:pPr>
            <a:r>
              <a:rPr sz="2000" spc="-10" dirty="0">
                <a:latin typeface="Calibri"/>
                <a:cs typeface="Calibri"/>
              </a:rPr>
              <a:t>Implementation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with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Sklearn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6182" y="2356561"/>
            <a:ext cx="622871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latin typeface="Arial"/>
                <a:cs typeface="Arial"/>
              </a:rPr>
              <a:t>1.</a:t>
            </a:r>
            <a:r>
              <a:rPr sz="2600" b="1" spc="-15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Classification</a:t>
            </a:r>
            <a:r>
              <a:rPr sz="2600" b="1" dirty="0">
                <a:latin typeface="Arial"/>
                <a:cs typeface="Arial"/>
              </a:rPr>
              <a:t> </a:t>
            </a:r>
            <a:r>
              <a:rPr sz="2600" b="1" spc="5" dirty="0">
                <a:latin typeface="Arial"/>
                <a:cs typeface="Arial"/>
              </a:rPr>
              <a:t>Models</a:t>
            </a:r>
            <a:r>
              <a:rPr sz="2600" b="1" spc="-25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-</a:t>
            </a:r>
            <a:r>
              <a:rPr sz="2600" b="1" spc="-35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Decision</a:t>
            </a:r>
            <a:r>
              <a:rPr sz="2600" b="1" spc="-20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Tree</a:t>
            </a:r>
            <a:endParaRPr sz="2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1330" y="4579751"/>
            <a:ext cx="217804" cy="30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2</a:t>
            </a:fld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61144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Decision</a:t>
            </a:r>
            <a:r>
              <a:rPr spc="30" dirty="0"/>
              <a:t> </a:t>
            </a:r>
            <a:r>
              <a:rPr spc="-5" dirty="0"/>
              <a:t>Tree</a:t>
            </a:r>
            <a:r>
              <a:rPr spc="40" dirty="0"/>
              <a:t> </a:t>
            </a:r>
            <a:r>
              <a:rPr spc="-5" dirty="0"/>
              <a:t>Classification Algorithm: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5563" y="1133043"/>
            <a:ext cx="749236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935" marR="5080" indent="-356870">
              <a:lnSpc>
                <a:spcPct val="100000"/>
              </a:lnSpc>
              <a:spcBef>
                <a:spcPts val="105"/>
              </a:spcBef>
              <a:buFont typeface="Segoe UI Symbol"/>
              <a:buChar char="➔"/>
              <a:tabLst>
                <a:tab pos="369570" algn="l"/>
              </a:tabLst>
            </a:pPr>
            <a:r>
              <a:rPr sz="2000" spc="-5" dirty="0">
                <a:latin typeface="Calibri"/>
                <a:cs typeface="Calibri"/>
              </a:rPr>
              <a:t>It is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5" dirty="0">
                <a:latin typeface="Calibri"/>
                <a:cs typeface="Calibri"/>
              </a:rPr>
              <a:t>tree-structured </a:t>
            </a:r>
            <a:r>
              <a:rPr sz="2000" spc="-30" dirty="0">
                <a:latin typeface="Calibri"/>
                <a:cs typeface="Calibri"/>
              </a:rPr>
              <a:t>classifier,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where </a:t>
            </a:r>
            <a:r>
              <a:rPr sz="2000" spc="-10" dirty="0">
                <a:latin typeface="Calibri"/>
                <a:cs typeface="Calibri"/>
              </a:rPr>
              <a:t>internal </a:t>
            </a:r>
            <a:r>
              <a:rPr sz="2000" spc="-5" dirty="0">
                <a:latin typeface="Calibri"/>
                <a:cs typeface="Calibri"/>
              </a:rPr>
              <a:t>nodes </a:t>
            </a:r>
            <a:r>
              <a:rPr sz="2000" spc="-25" dirty="0">
                <a:latin typeface="Calibri"/>
                <a:cs typeface="Calibri"/>
              </a:rPr>
              <a:t>represent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features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dataset,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branches</a:t>
            </a:r>
            <a:r>
              <a:rPr sz="2000" spc="-20" dirty="0">
                <a:latin typeface="Calibri"/>
                <a:cs typeface="Calibri"/>
              </a:rPr>
              <a:t> represent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decision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rules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leaf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represents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outcome.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4472" y="1786128"/>
            <a:ext cx="4587239" cy="306019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81330" y="4579751"/>
            <a:ext cx="217804" cy="30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3</a:t>
            </a:fld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61163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Decision</a:t>
            </a:r>
            <a:r>
              <a:rPr dirty="0"/>
              <a:t> </a:t>
            </a:r>
            <a:r>
              <a:rPr spc="-5" dirty="0"/>
              <a:t>Tree</a:t>
            </a:r>
            <a:r>
              <a:rPr spc="25" dirty="0"/>
              <a:t> </a:t>
            </a:r>
            <a:r>
              <a:rPr dirty="0"/>
              <a:t>Classification</a:t>
            </a:r>
            <a:r>
              <a:rPr spc="-15" dirty="0"/>
              <a:t> </a:t>
            </a:r>
            <a:r>
              <a:rPr spc="-5" dirty="0"/>
              <a:t>Algorithm: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1330" y="4579751"/>
            <a:ext cx="217804" cy="30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4</a:t>
            </a:fld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5563" y="1133043"/>
            <a:ext cx="7708900" cy="33801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935" indent="-356870">
              <a:lnSpc>
                <a:spcPct val="100000"/>
              </a:lnSpc>
              <a:spcBef>
                <a:spcPts val="105"/>
              </a:spcBef>
              <a:buFont typeface="Segoe UI Symbol"/>
              <a:buChar char="➔"/>
              <a:tabLst>
                <a:tab pos="369570" algn="l"/>
              </a:tabLst>
            </a:pPr>
            <a:r>
              <a:rPr sz="2000" dirty="0">
                <a:latin typeface="Calibri"/>
                <a:cs typeface="Calibri"/>
              </a:rPr>
              <a:t>In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b="1" spc="-15" dirty="0">
                <a:latin typeface="Calibri"/>
                <a:cs typeface="Calibri"/>
              </a:rPr>
              <a:t>Decision</a:t>
            </a:r>
            <a:r>
              <a:rPr sz="2000" b="1" spc="25" dirty="0">
                <a:latin typeface="Calibri"/>
                <a:cs typeface="Calibri"/>
              </a:rPr>
              <a:t> </a:t>
            </a:r>
            <a:r>
              <a:rPr sz="2000" b="1" spc="-30" dirty="0">
                <a:latin typeface="Calibri"/>
                <a:cs typeface="Calibri"/>
              </a:rPr>
              <a:t>Tree</a:t>
            </a:r>
            <a:r>
              <a:rPr sz="2000" spc="-30" dirty="0">
                <a:latin typeface="Calibri"/>
                <a:cs typeface="Calibri"/>
              </a:rPr>
              <a:t>,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there</a:t>
            </a:r>
            <a:r>
              <a:rPr sz="2000" spc="-10" dirty="0">
                <a:latin typeface="Calibri"/>
                <a:cs typeface="Calibri"/>
              </a:rPr>
              <a:t> are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two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nodes,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which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Decision</a:t>
            </a:r>
            <a:endParaRPr sz="2000">
              <a:latin typeface="Calibri"/>
              <a:cs typeface="Calibri"/>
            </a:endParaRPr>
          </a:p>
          <a:p>
            <a:pPr marL="368935">
              <a:lnSpc>
                <a:spcPct val="100000"/>
              </a:lnSpc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Node</a:t>
            </a:r>
            <a:r>
              <a:rPr sz="20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Leaf</a:t>
            </a:r>
            <a:r>
              <a:rPr sz="20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Node</a:t>
            </a:r>
            <a:r>
              <a:rPr sz="200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368935" marR="5080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spc="-15" dirty="0">
                <a:latin typeface="Calibri"/>
                <a:cs typeface="Calibri"/>
              </a:rPr>
              <a:t>Decision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used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make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any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decision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have</a:t>
            </a:r>
            <a:r>
              <a:rPr sz="2000" dirty="0">
                <a:latin typeface="Calibri"/>
                <a:cs typeface="Calibri"/>
              </a:rPr>
              <a:t> multiple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branches, </a:t>
            </a:r>
            <a:r>
              <a:rPr sz="2000" spc="-15" dirty="0">
                <a:latin typeface="Calibri"/>
                <a:cs typeface="Calibri"/>
              </a:rPr>
              <a:t>whereas Leaf </a:t>
            </a:r>
            <a:r>
              <a:rPr sz="2000" dirty="0">
                <a:latin typeface="Calibri"/>
                <a:cs typeface="Calibri"/>
              </a:rPr>
              <a:t>nodes </a:t>
            </a:r>
            <a:r>
              <a:rPr sz="2000" spc="-10" dirty="0">
                <a:latin typeface="Calibri"/>
                <a:cs typeface="Calibri"/>
              </a:rPr>
              <a:t>are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output of </a:t>
            </a:r>
            <a:r>
              <a:rPr sz="2000" dirty="0">
                <a:latin typeface="Calibri"/>
                <a:cs typeface="Calibri"/>
              </a:rPr>
              <a:t>those </a:t>
            </a:r>
            <a:r>
              <a:rPr sz="2000" spc="-5" dirty="0">
                <a:latin typeface="Calibri"/>
                <a:cs typeface="Calibri"/>
              </a:rPr>
              <a:t>decisions </a:t>
            </a:r>
            <a:r>
              <a:rPr sz="2000" dirty="0">
                <a:latin typeface="Calibri"/>
                <a:cs typeface="Calibri"/>
              </a:rPr>
              <a:t>and do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contain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any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further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branches.</a:t>
            </a:r>
            <a:endParaRPr sz="2000">
              <a:latin typeface="Calibri"/>
              <a:cs typeface="Calibri"/>
            </a:endParaRPr>
          </a:p>
          <a:p>
            <a:pPr marL="368935" marR="121285" indent="-356870">
              <a:lnSpc>
                <a:spcPct val="100000"/>
              </a:lnSpc>
              <a:spcBef>
                <a:spcPts val="5"/>
              </a:spcBef>
              <a:buFont typeface="Segoe UI Symbol"/>
              <a:buChar char="➔"/>
              <a:tabLst>
                <a:tab pos="369570" algn="l"/>
              </a:tabLst>
            </a:pPr>
            <a:r>
              <a:rPr sz="2000" spc="-10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decisions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test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performed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basis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features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given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dataset.</a:t>
            </a:r>
            <a:endParaRPr sz="2000">
              <a:latin typeface="Calibri"/>
              <a:cs typeface="Calibri"/>
            </a:endParaRPr>
          </a:p>
          <a:p>
            <a:pPr marL="368935" marR="46990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spc="-5" dirty="0">
                <a:latin typeface="Calibri"/>
                <a:cs typeface="Calibri"/>
              </a:rPr>
              <a:t>It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graphical representation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for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getting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possible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solutions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problem/decision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based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given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conditions.</a:t>
            </a:r>
            <a:endParaRPr sz="2000">
              <a:latin typeface="Calibri"/>
              <a:cs typeface="Calibri"/>
            </a:endParaRPr>
          </a:p>
          <a:p>
            <a:pPr marL="368935" marR="632460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order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build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tree,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we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Calibri"/>
                <a:cs typeface="Calibri"/>
              </a:rPr>
              <a:t>CART</a:t>
            </a:r>
            <a:r>
              <a:rPr sz="20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algorithm,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stands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Classification</a:t>
            </a:r>
            <a:r>
              <a:rPr sz="2000" b="1" spc="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0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Regression</a:t>
            </a:r>
            <a:r>
              <a:rPr sz="20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35" dirty="0">
                <a:solidFill>
                  <a:srgbClr val="FF0000"/>
                </a:solidFill>
                <a:latin typeface="Calibri"/>
                <a:cs typeface="Calibri"/>
              </a:rPr>
              <a:t>Tree</a:t>
            </a:r>
            <a:r>
              <a:rPr sz="2000" b="1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algorithm.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4650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Decision Tree</a:t>
            </a:r>
            <a:r>
              <a:rPr spc="20" dirty="0"/>
              <a:t> </a:t>
            </a:r>
            <a:r>
              <a:rPr spc="-5" dirty="0"/>
              <a:t>Terminologies: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1330" y="4579751"/>
            <a:ext cx="217804" cy="30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5</a:t>
            </a:fld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5563" y="1133043"/>
            <a:ext cx="781875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935" marR="426720" indent="-356870">
              <a:lnSpc>
                <a:spcPct val="100000"/>
              </a:lnSpc>
              <a:spcBef>
                <a:spcPts val="105"/>
              </a:spcBef>
              <a:buFont typeface="Segoe UI Symbol"/>
              <a:buChar char="➔"/>
              <a:tabLst>
                <a:tab pos="369570" algn="l"/>
              </a:tabLst>
            </a:pPr>
            <a:r>
              <a:rPr sz="2000" b="1" spc="-10" dirty="0">
                <a:latin typeface="Calibri"/>
                <a:cs typeface="Calibri"/>
              </a:rPr>
              <a:t>Root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Node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Root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node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from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where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decision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tree </a:t>
            </a:r>
            <a:r>
              <a:rPr sz="2000" spc="-10" dirty="0">
                <a:latin typeface="Calibri"/>
                <a:cs typeface="Calibri"/>
              </a:rPr>
              <a:t>starts.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represents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entire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dataset,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 </a:t>
            </a:r>
            <a:r>
              <a:rPr sz="2000" spc="-5" dirty="0">
                <a:latin typeface="Calibri"/>
                <a:cs typeface="Calibri"/>
              </a:rPr>
              <a:t>further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gets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divided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into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two</a:t>
            </a:r>
            <a:r>
              <a:rPr sz="2000" spc="-5" dirty="0">
                <a:latin typeface="Calibri"/>
                <a:cs typeface="Calibri"/>
              </a:rPr>
              <a:t> or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more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homogeneous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sets.</a:t>
            </a:r>
            <a:endParaRPr sz="2000">
              <a:latin typeface="Calibri"/>
              <a:cs typeface="Calibri"/>
            </a:endParaRPr>
          </a:p>
          <a:p>
            <a:pPr marL="368935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b="1" spc="-5" dirty="0">
                <a:latin typeface="Calibri"/>
                <a:cs typeface="Calibri"/>
              </a:rPr>
              <a:t>Leaf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Node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15" dirty="0">
                <a:latin typeface="Calibri"/>
                <a:cs typeface="Calibri"/>
              </a:rPr>
              <a:t> Leaf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final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output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tree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cannot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endParaRPr sz="2000">
              <a:latin typeface="Calibri"/>
              <a:cs typeface="Calibri"/>
            </a:endParaRPr>
          </a:p>
          <a:p>
            <a:pPr marL="368935">
              <a:lnSpc>
                <a:spcPct val="100000"/>
              </a:lnSpc>
            </a:pPr>
            <a:r>
              <a:rPr sz="2000" spc="-25" dirty="0">
                <a:latin typeface="Calibri"/>
                <a:cs typeface="Calibri"/>
              </a:rPr>
              <a:t>segregated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further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after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getting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leaf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node.</a:t>
            </a:r>
            <a:endParaRPr sz="2000">
              <a:latin typeface="Calibri"/>
              <a:cs typeface="Calibri"/>
            </a:endParaRPr>
          </a:p>
          <a:p>
            <a:pPr marL="368935" marR="5080" indent="-356870">
              <a:lnSpc>
                <a:spcPct val="100000"/>
              </a:lnSpc>
              <a:spcBef>
                <a:spcPts val="5"/>
              </a:spcBef>
              <a:buFont typeface="Segoe UI Symbol"/>
              <a:buChar char="➔"/>
              <a:tabLst>
                <a:tab pos="369570" algn="l"/>
              </a:tabLst>
            </a:pPr>
            <a:r>
              <a:rPr sz="2000" b="1" spc="-15" dirty="0">
                <a:latin typeface="Calibri"/>
                <a:cs typeface="Calibri"/>
              </a:rPr>
              <a:t>Splitting</a:t>
            </a:r>
            <a:r>
              <a:rPr sz="2000" spc="-15" dirty="0">
                <a:latin typeface="Calibri"/>
                <a:cs typeface="Calibri"/>
              </a:rPr>
              <a:t>: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Splitting is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process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dividing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5" dirty="0">
                <a:latin typeface="Calibri"/>
                <a:cs typeface="Calibri"/>
              </a:rPr>
              <a:t>decision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node/root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into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sub-nodes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according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given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conditions.</a:t>
            </a:r>
            <a:endParaRPr sz="2000">
              <a:latin typeface="Calibri"/>
              <a:cs typeface="Calibri"/>
            </a:endParaRPr>
          </a:p>
          <a:p>
            <a:pPr marL="368935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b="1" spc="-5" dirty="0">
                <a:latin typeface="Calibri"/>
                <a:cs typeface="Calibri"/>
              </a:rPr>
              <a:t>Branch/Sub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spc="-30" dirty="0">
                <a:latin typeface="Calibri"/>
                <a:cs typeface="Calibri"/>
              </a:rPr>
              <a:t>Tree</a:t>
            </a:r>
            <a:r>
              <a:rPr sz="2000" spc="-30" dirty="0">
                <a:latin typeface="Calibri"/>
                <a:cs typeface="Calibri"/>
              </a:rPr>
              <a:t>: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tree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formed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splitting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tree.</a:t>
            </a:r>
            <a:endParaRPr sz="2000">
              <a:latin typeface="Calibri"/>
              <a:cs typeface="Calibri"/>
            </a:endParaRPr>
          </a:p>
          <a:p>
            <a:pPr marL="368935" marR="90170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b="1" spc="-10" dirty="0">
                <a:latin typeface="Calibri"/>
                <a:cs typeface="Calibri"/>
              </a:rPr>
              <a:t>Parent/Child </a:t>
            </a:r>
            <a:r>
              <a:rPr sz="2000" b="1" dirty="0">
                <a:latin typeface="Calibri"/>
                <a:cs typeface="Calibri"/>
              </a:rPr>
              <a:t>Node</a:t>
            </a:r>
            <a:r>
              <a:rPr sz="2000" dirty="0">
                <a:latin typeface="Calibri"/>
                <a:cs typeface="Calibri"/>
              </a:rPr>
              <a:t>: </a:t>
            </a:r>
            <a:r>
              <a:rPr sz="2000" spc="-10" dirty="0">
                <a:latin typeface="Calibri"/>
                <a:cs typeface="Calibri"/>
              </a:rPr>
              <a:t>The </a:t>
            </a:r>
            <a:r>
              <a:rPr sz="2000" spc="-15" dirty="0">
                <a:latin typeface="Calibri"/>
                <a:cs typeface="Calibri"/>
              </a:rPr>
              <a:t>root </a:t>
            </a:r>
            <a:r>
              <a:rPr sz="2000" dirty="0">
                <a:latin typeface="Calibri"/>
                <a:cs typeface="Calibri"/>
              </a:rPr>
              <a:t>node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tree </a:t>
            </a:r>
            <a:r>
              <a:rPr sz="2000" spc="-5" dirty="0">
                <a:latin typeface="Calibri"/>
                <a:cs typeface="Calibri"/>
              </a:rPr>
              <a:t>is called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parent </a:t>
            </a:r>
            <a:r>
              <a:rPr sz="2000" dirty="0">
                <a:latin typeface="Calibri"/>
                <a:cs typeface="Calibri"/>
              </a:rPr>
              <a:t>node,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other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called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child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729043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How</a:t>
            </a:r>
            <a:r>
              <a:rPr spc="10" dirty="0"/>
              <a:t> </a:t>
            </a:r>
            <a:r>
              <a:rPr spc="-5" dirty="0"/>
              <a:t>Does</a:t>
            </a:r>
            <a:r>
              <a:rPr spc="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5" dirty="0"/>
              <a:t>Decision</a:t>
            </a:r>
            <a:r>
              <a:rPr spc="20" dirty="0"/>
              <a:t> </a:t>
            </a:r>
            <a:r>
              <a:rPr spc="-5" dirty="0"/>
              <a:t>Tree</a:t>
            </a:r>
            <a:r>
              <a:rPr spc="40" dirty="0"/>
              <a:t> </a:t>
            </a:r>
            <a:r>
              <a:rPr spc="-5" dirty="0"/>
              <a:t>Algorithm</a:t>
            </a:r>
            <a:r>
              <a:rPr spc="5" dirty="0"/>
              <a:t> </a:t>
            </a:r>
            <a:r>
              <a:rPr dirty="0"/>
              <a:t>Work?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1330" y="4579751"/>
            <a:ext cx="217804" cy="30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6</a:t>
            </a:fld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5563" y="1133043"/>
            <a:ext cx="8107045" cy="33801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935" indent="-356870">
              <a:lnSpc>
                <a:spcPct val="100000"/>
              </a:lnSpc>
              <a:spcBef>
                <a:spcPts val="105"/>
              </a:spcBef>
              <a:buFont typeface="Segoe UI Symbol"/>
              <a:buChar char="➔"/>
              <a:tabLst>
                <a:tab pos="369570" algn="l"/>
              </a:tabLst>
            </a:pPr>
            <a:r>
              <a:rPr sz="2000" b="1" spc="-5" dirty="0">
                <a:latin typeface="Calibri"/>
                <a:cs typeface="Calibri"/>
              </a:rPr>
              <a:t>Step-1</a:t>
            </a:r>
            <a:r>
              <a:rPr sz="2000" spc="-5" dirty="0">
                <a:latin typeface="Calibri"/>
                <a:cs typeface="Calibri"/>
              </a:rPr>
              <a:t>: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Begin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tree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root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node,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says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contains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endParaRPr sz="2000">
              <a:latin typeface="Calibri"/>
              <a:cs typeface="Calibri"/>
            </a:endParaRPr>
          </a:p>
          <a:p>
            <a:pPr marL="368935">
              <a:lnSpc>
                <a:spcPct val="100000"/>
              </a:lnSpc>
            </a:pPr>
            <a:r>
              <a:rPr sz="2000" spc="-20" dirty="0">
                <a:latin typeface="Calibri"/>
                <a:cs typeface="Calibri"/>
              </a:rPr>
              <a:t>complete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dataset.</a:t>
            </a:r>
            <a:endParaRPr sz="2000">
              <a:latin typeface="Calibri"/>
              <a:cs typeface="Calibri"/>
            </a:endParaRPr>
          </a:p>
          <a:p>
            <a:pPr marL="368935" marR="511175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b="1" spc="-5" dirty="0">
                <a:latin typeface="Calibri"/>
                <a:cs typeface="Calibri"/>
              </a:rPr>
              <a:t>Step-2</a:t>
            </a:r>
            <a:r>
              <a:rPr sz="2000" spc="-5" dirty="0">
                <a:latin typeface="Calibri"/>
                <a:cs typeface="Calibri"/>
              </a:rPr>
              <a:t>: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Find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best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attribute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dataset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using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Calibri"/>
                <a:cs typeface="Calibri"/>
              </a:rPr>
              <a:t>Attribute</a:t>
            </a:r>
            <a:r>
              <a:rPr sz="20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Selection </a:t>
            </a:r>
            <a:r>
              <a:rPr sz="2000" b="1" spc="-43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Measure</a:t>
            </a:r>
            <a:r>
              <a:rPr sz="20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ASM</a:t>
            </a:r>
            <a:r>
              <a:rPr sz="2000" spc="-10" dirty="0">
                <a:latin typeface="Calibri"/>
                <a:cs typeface="Calibri"/>
              </a:rPr>
              <a:t>).</a:t>
            </a:r>
            <a:endParaRPr sz="2000">
              <a:latin typeface="Calibri"/>
              <a:cs typeface="Calibri"/>
            </a:endParaRPr>
          </a:p>
          <a:p>
            <a:pPr marL="368935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b="1" spc="-5" dirty="0">
                <a:latin typeface="Calibri"/>
                <a:cs typeface="Calibri"/>
              </a:rPr>
              <a:t>Step-3</a:t>
            </a:r>
            <a:r>
              <a:rPr sz="2000" spc="-5" dirty="0">
                <a:latin typeface="Calibri"/>
                <a:cs typeface="Calibri"/>
              </a:rPr>
              <a:t>: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Divide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into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subsets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that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contains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possible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values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for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best</a:t>
            </a:r>
            <a:endParaRPr sz="2000">
              <a:latin typeface="Calibri"/>
              <a:cs typeface="Calibri"/>
            </a:endParaRPr>
          </a:p>
          <a:p>
            <a:pPr marL="368935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Calibri"/>
                <a:cs typeface="Calibri"/>
              </a:rPr>
              <a:t>attributes.</a:t>
            </a:r>
            <a:endParaRPr sz="2000">
              <a:latin typeface="Calibri"/>
              <a:cs typeface="Calibri"/>
            </a:endParaRPr>
          </a:p>
          <a:p>
            <a:pPr marL="368935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b="1" spc="-5" dirty="0">
                <a:latin typeface="Calibri"/>
                <a:cs typeface="Calibri"/>
              </a:rPr>
              <a:t>Step-4</a:t>
            </a:r>
            <a:r>
              <a:rPr sz="2000" spc="-5" dirty="0">
                <a:latin typeface="Calibri"/>
                <a:cs typeface="Calibri"/>
              </a:rPr>
              <a:t>: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Generate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decision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tree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contains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best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attribute.</a:t>
            </a:r>
            <a:endParaRPr sz="2000">
              <a:latin typeface="Calibri"/>
              <a:cs typeface="Calibri"/>
            </a:endParaRPr>
          </a:p>
          <a:p>
            <a:pPr marL="368935" marR="150495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b="1" spc="-5" dirty="0">
                <a:latin typeface="Calibri"/>
                <a:cs typeface="Calibri"/>
              </a:rPr>
              <a:t>Step-5</a:t>
            </a:r>
            <a:r>
              <a:rPr sz="2000" spc="-5" dirty="0">
                <a:latin typeface="Calibri"/>
                <a:cs typeface="Calibri"/>
              </a:rPr>
              <a:t>: </a:t>
            </a:r>
            <a:r>
              <a:rPr sz="2000" spc="-25" dirty="0">
                <a:latin typeface="Calibri"/>
                <a:cs typeface="Calibri"/>
              </a:rPr>
              <a:t>Recursively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make </a:t>
            </a:r>
            <a:r>
              <a:rPr sz="2000" spc="-5" dirty="0">
                <a:latin typeface="Calibri"/>
                <a:cs typeface="Calibri"/>
              </a:rPr>
              <a:t>new </a:t>
            </a:r>
            <a:r>
              <a:rPr sz="2000" spc="-15" dirty="0">
                <a:latin typeface="Calibri"/>
                <a:cs typeface="Calibri"/>
              </a:rPr>
              <a:t>decision </a:t>
            </a:r>
            <a:r>
              <a:rPr sz="2000" spc="-20" dirty="0">
                <a:latin typeface="Calibri"/>
                <a:cs typeface="Calibri"/>
              </a:rPr>
              <a:t>trees </a:t>
            </a:r>
            <a:r>
              <a:rPr sz="2000" spc="-5" dirty="0">
                <a:latin typeface="Calibri"/>
                <a:cs typeface="Calibri"/>
              </a:rPr>
              <a:t>using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20" dirty="0">
                <a:latin typeface="Calibri"/>
                <a:cs typeface="Calibri"/>
              </a:rPr>
              <a:t>subsets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dataset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created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step-3.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Continue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process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until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25" dirty="0">
                <a:latin typeface="Calibri"/>
                <a:cs typeface="Calibri"/>
              </a:rPr>
              <a:t>stage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reached 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where </a:t>
            </a:r>
            <a:r>
              <a:rPr sz="2000" spc="-10" dirty="0">
                <a:latin typeface="Calibri"/>
                <a:cs typeface="Calibri"/>
              </a:rPr>
              <a:t>you </a:t>
            </a:r>
            <a:r>
              <a:rPr sz="2000" spc="-5" dirty="0">
                <a:latin typeface="Calibri"/>
                <a:cs typeface="Calibri"/>
              </a:rPr>
              <a:t>cannot further </a:t>
            </a:r>
            <a:r>
              <a:rPr sz="2000" spc="-15" dirty="0">
                <a:latin typeface="Calibri"/>
                <a:cs typeface="Calibri"/>
              </a:rPr>
              <a:t>classify </a:t>
            </a:r>
            <a:r>
              <a:rPr sz="2000" dirty="0">
                <a:latin typeface="Calibri"/>
                <a:cs typeface="Calibri"/>
              </a:rPr>
              <a:t>the nodes and </a:t>
            </a:r>
            <a:r>
              <a:rPr sz="2000" spc="-5" dirty="0">
                <a:latin typeface="Calibri"/>
                <a:cs typeface="Calibri"/>
              </a:rPr>
              <a:t>called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final </a:t>
            </a:r>
            <a:r>
              <a:rPr sz="2000" dirty="0">
                <a:latin typeface="Calibri"/>
                <a:cs typeface="Calibri"/>
              </a:rPr>
              <a:t>node as a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leaf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15005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</a:t>
            </a:r>
            <a:r>
              <a:rPr spc="-35" dirty="0"/>
              <a:t>x</a:t>
            </a:r>
            <a:r>
              <a:rPr spc="-5" dirty="0"/>
              <a:t>am</a:t>
            </a:r>
            <a:r>
              <a:rPr dirty="0"/>
              <a:t>pl</a:t>
            </a:r>
            <a:r>
              <a:rPr spc="-25" dirty="0"/>
              <a:t>e</a:t>
            </a:r>
            <a:r>
              <a:rPr spc="-5" dirty="0"/>
              <a:t>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1511" y="792480"/>
            <a:ext cx="4760976" cy="3810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81330" y="4579751"/>
            <a:ext cx="217804" cy="30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7</a:t>
            </a:fld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15005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</a:t>
            </a:r>
            <a:r>
              <a:rPr spc="-35" dirty="0"/>
              <a:t>x</a:t>
            </a:r>
            <a:r>
              <a:rPr spc="-5" dirty="0"/>
              <a:t>am</a:t>
            </a:r>
            <a:r>
              <a:rPr dirty="0"/>
              <a:t>pl</a:t>
            </a:r>
            <a:r>
              <a:rPr spc="-25" dirty="0"/>
              <a:t>e</a:t>
            </a:r>
            <a:r>
              <a:rPr spc="-5" dirty="0"/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5563" y="1133043"/>
            <a:ext cx="7496809" cy="33801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935" indent="-356870">
              <a:lnSpc>
                <a:spcPct val="100000"/>
              </a:lnSpc>
              <a:spcBef>
                <a:spcPts val="105"/>
              </a:spcBef>
              <a:buFont typeface="Segoe UI Symbol"/>
              <a:buChar char="➔"/>
              <a:tabLst>
                <a:tab pos="369570" algn="l"/>
              </a:tabLst>
            </a:pPr>
            <a:r>
              <a:rPr sz="2000" spc="-5" dirty="0">
                <a:latin typeface="Calibri"/>
                <a:cs typeface="Calibri"/>
              </a:rPr>
              <a:t>Suppose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there is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 candidate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who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job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offer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wants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decide</a:t>
            </a:r>
            <a:endParaRPr sz="2000">
              <a:latin typeface="Calibri"/>
              <a:cs typeface="Calibri"/>
            </a:endParaRPr>
          </a:p>
          <a:p>
            <a:pPr marL="368935">
              <a:lnSpc>
                <a:spcPct val="100000"/>
              </a:lnSpc>
            </a:pPr>
            <a:r>
              <a:rPr sz="2000" spc="-15" dirty="0">
                <a:latin typeface="Calibri"/>
                <a:cs typeface="Calibri"/>
              </a:rPr>
              <a:t>whether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should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accept 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offer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Not.</a:t>
            </a:r>
            <a:endParaRPr sz="2000">
              <a:latin typeface="Calibri"/>
              <a:cs typeface="Calibri"/>
            </a:endParaRPr>
          </a:p>
          <a:p>
            <a:pPr marL="368935" marR="106680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spc="-15" dirty="0">
                <a:latin typeface="Calibri"/>
                <a:cs typeface="Calibri"/>
              </a:rPr>
              <a:t>So,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solve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problem,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decision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tree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starts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with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root </a:t>
            </a:r>
            <a:r>
              <a:rPr sz="2000" dirty="0">
                <a:latin typeface="Calibri"/>
                <a:cs typeface="Calibri"/>
              </a:rPr>
              <a:t>node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(Salary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attribute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by </a:t>
            </a: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ASM</a:t>
            </a:r>
            <a:r>
              <a:rPr sz="2000" spc="-15" dirty="0">
                <a:latin typeface="Calibri"/>
                <a:cs typeface="Calibri"/>
              </a:rPr>
              <a:t>).</a:t>
            </a:r>
            <a:endParaRPr sz="2000">
              <a:latin typeface="Calibri"/>
              <a:cs typeface="Calibri"/>
            </a:endParaRPr>
          </a:p>
          <a:p>
            <a:pPr marL="356870" marR="1426845" indent="-344805">
              <a:lnSpc>
                <a:spcPct val="100000"/>
              </a:lnSpc>
              <a:buFont typeface="Segoe UI Symbol"/>
              <a:buChar char="➔"/>
              <a:tabLst>
                <a:tab pos="357505" algn="l"/>
              </a:tabLst>
            </a:pPr>
            <a:r>
              <a:rPr sz="2000" spc="-10" dirty="0">
                <a:latin typeface="Calibri"/>
                <a:cs typeface="Calibri"/>
              </a:rPr>
              <a:t>The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root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node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splits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further</a:t>
            </a:r>
            <a:r>
              <a:rPr sz="2000" spc="-15" dirty="0">
                <a:latin typeface="Calibri"/>
                <a:cs typeface="Calibri"/>
              </a:rPr>
              <a:t> into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next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decision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node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(distance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from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office)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leaf</a:t>
            </a:r>
            <a:r>
              <a:rPr sz="2000" dirty="0">
                <a:latin typeface="Calibri"/>
                <a:cs typeface="Calibri"/>
              </a:rPr>
              <a:t> node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based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 </a:t>
            </a:r>
            <a:r>
              <a:rPr sz="2000" dirty="0">
                <a:latin typeface="Calibri"/>
                <a:cs typeface="Calibri"/>
              </a:rPr>
              <a:t> 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corresponding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labels.</a:t>
            </a:r>
            <a:endParaRPr sz="2000">
              <a:latin typeface="Calibri"/>
              <a:cs typeface="Calibri"/>
            </a:endParaRPr>
          </a:p>
          <a:p>
            <a:pPr marL="356870" marR="2061210" indent="-344805">
              <a:lnSpc>
                <a:spcPct val="100000"/>
              </a:lnSpc>
              <a:spcBef>
                <a:spcPts val="5"/>
              </a:spcBef>
              <a:buFont typeface="Segoe UI Symbol"/>
              <a:buChar char="➔"/>
              <a:tabLst>
                <a:tab pos="369570" algn="l"/>
              </a:tabLst>
            </a:pPr>
            <a:r>
              <a:rPr sz="2000" spc="-1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next </a:t>
            </a:r>
            <a:r>
              <a:rPr sz="2000" spc="-15" dirty="0">
                <a:latin typeface="Calibri"/>
                <a:cs typeface="Calibri"/>
              </a:rPr>
              <a:t>decision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further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gets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split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into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one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decision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(Cab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facility)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leaf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node.</a:t>
            </a:r>
            <a:endParaRPr sz="2000">
              <a:latin typeface="Calibri"/>
              <a:cs typeface="Calibri"/>
            </a:endParaRPr>
          </a:p>
          <a:p>
            <a:pPr marL="356870" marR="2578735" indent="-344805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spc="-25" dirty="0">
                <a:latin typeface="Calibri"/>
                <a:cs typeface="Calibri"/>
              </a:rPr>
              <a:t>Finally,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decision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splits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two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leaf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(Accepted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offers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Declined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offer).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03391" y="2298192"/>
            <a:ext cx="3124200" cy="24993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81330" y="4579751"/>
            <a:ext cx="217804" cy="30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8</a:t>
            </a:fld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15005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</a:t>
            </a:r>
            <a:r>
              <a:rPr spc="-35" dirty="0"/>
              <a:t>x</a:t>
            </a:r>
            <a:r>
              <a:rPr spc="-5" dirty="0"/>
              <a:t>am</a:t>
            </a:r>
            <a:r>
              <a:rPr dirty="0"/>
              <a:t>pl</a:t>
            </a:r>
            <a:r>
              <a:rPr spc="-25" dirty="0"/>
              <a:t>e</a:t>
            </a:r>
            <a:r>
              <a:rPr spc="-5" dirty="0"/>
              <a:t>: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1940" y="1051560"/>
            <a:ext cx="8557260" cy="2821305"/>
            <a:chOff x="281940" y="1051560"/>
            <a:chExt cx="8557260" cy="28213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8599" y="1051560"/>
              <a:ext cx="4800600" cy="26852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940" y="1586484"/>
              <a:ext cx="3928872" cy="22860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4667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Attribute Selection</a:t>
            </a:r>
            <a:r>
              <a:rPr spc="-10" dirty="0"/>
              <a:t> </a:t>
            </a:r>
            <a:r>
              <a:rPr spc="-5" dirty="0"/>
              <a:t>Measures: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75563" y="1133043"/>
            <a:ext cx="8037830" cy="2770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935" indent="-356870">
              <a:lnSpc>
                <a:spcPct val="100000"/>
              </a:lnSpc>
              <a:spcBef>
                <a:spcPts val="105"/>
              </a:spcBef>
              <a:buFont typeface="Segoe UI Symbol"/>
              <a:buChar char="➔"/>
              <a:tabLst>
                <a:tab pos="369570" algn="l"/>
              </a:tabLst>
            </a:pPr>
            <a:r>
              <a:rPr sz="2000" dirty="0">
                <a:latin typeface="Calibri"/>
                <a:cs typeface="Calibri"/>
              </a:rPr>
              <a:t>While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implementing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Decision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tree,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main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issue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arises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that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how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</a:t>
            </a:r>
            <a:endParaRPr sz="2000">
              <a:latin typeface="Calibri"/>
              <a:cs typeface="Calibri"/>
            </a:endParaRPr>
          </a:p>
          <a:p>
            <a:pPr marL="368935">
              <a:lnSpc>
                <a:spcPct val="100000"/>
              </a:lnSpc>
            </a:pPr>
            <a:r>
              <a:rPr sz="2000" spc="-15" dirty="0">
                <a:latin typeface="Calibri"/>
                <a:cs typeface="Calibri"/>
              </a:rPr>
              <a:t>select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best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attribute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root</a:t>
            </a:r>
            <a:r>
              <a:rPr sz="2000" dirty="0">
                <a:latin typeface="Calibri"/>
                <a:cs typeface="Calibri"/>
              </a:rPr>
              <a:t> node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sub-nodes.</a:t>
            </a:r>
            <a:endParaRPr sz="2000">
              <a:latin typeface="Calibri"/>
              <a:cs typeface="Calibri"/>
            </a:endParaRPr>
          </a:p>
          <a:p>
            <a:pPr marL="368935" marR="5080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spc="-15" dirty="0">
                <a:latin typeface="Calibri"/>
                <a:cs typeface="Calibri"/>
              </a:rPr>
              <a:t>So,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solve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such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problems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there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5" dirty="0">
                <a:latin typeface="Calibri"/>
                <a:cs typeface="Calibri"/>
              </a:rPr>
              <a:t>technique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called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Attribute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selection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measure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(</a:t>
            </a:r>
            <a:r>
              <a:rPr sz="2000" b="1" spc="1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ASM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)</a:t>
            </a:r>
            <a:r>
              <a:rPr sz="2000" spc="-5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368935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spc="-10" dirty="0">
                <a:latin typeface="Calibri"/>
                <a:cs typeface="Calibri"/>
              </a:rPr>
              <a:t>By</a:t>
            </a:r>
            <a:r>
              <a:rPr sz="2000" dirty="0">
                <a:latin typeface="Calibri"/>
                <a:cs typeface="Calibri"/>
              </a:rPr>
              <a:t> this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measurement,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we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easily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select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best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attribute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for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nodes</a:t>
            </a:r>
            <a:endParaRPr sz="2000">
              <a:latin typeface="Calibri"/>
              <a:cs typeface="Calibri"/>
            </a:endParaRPr>
          </a:p>
          <a:p>
            <a:pPr marL="368935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tree.</a:t>
            </a:r>
            <a:endParaRPr sz="2000">
              <a:latin typeface="Calibri"/>
              <a:cs typeface="Calibri"/>
            </a:endParaRPr>
          </a:p>
          <a:p>
            <a:pPr marL="368935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spc="-20" dirty="0">
                <a:latin typeface="Calibri"/>
                <a:cs typeface="Calibri"/>
              </a:rPr>
              <a:t>There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are</a:t>
            </a:r>
            <a:r>
              <a:rPr sz="2000" spc="-20" dirty="0">
                <a:latin typeface="Calibri"/>
                <a:cs typeface="Calibri"/>
              </a:rPr>
              <a:t> two</a:t>
            </a:r>
            <a:r>
              <a:rPr sz="2000" spc="-5" dirty="0">
                <a:latin typeface="Calibri"/>
                <a:cs typeface="Calibri"/>
              </a:rPr>
              <a:t> popular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techniques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ASM,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are:</a:t>
            </a:r>
            <a:endParaRPr sz="2000">
              <a:latin typeface="Calibri"/>
              <a:cs typeface="Calibri"/>
            </a:endParaRPr>
          </a:p>
          <a:p>
            <a:pPr marL="960119" lvl="1" indent="-134620">
              <a:lnSpc>
                <a:spcPct val="100000"/>
              </a:lnSpc>
              <a:buFont typeface="Calibri"/>
              <a:buChar char="-"/>
              <a:tabLst>
                <a:tab pos="960755" algn="l"/>
              </a:tabLst>
            </a:pPr>
            <a:r>
              <a:rPr sz="2000" b="1" spc="-10" dirty="0">
                <a:latin typeface="Calibri"/>
                <a:cs typeface="Calibri"/>
              </a:rPr>
              <a:t>Information</a:t>
            </a:r>
            <a:r>
              <a:rPr sz="2000" b="1" spc="-95" dirty="0">
                <a:latin typeface="Calibri"/>
                <a:cs typeface="Calibri"/>
              </a:rPr>
              <a:t> </a:t>
            </a:r>
            <a:r>
              <a:rPr sz="2000" b="1" spc="-15" dirty="0">
                <a:latin typeface="Calibri"/>
                <a:cs typeface="Calibri"/>
              </a:rPr>
              <a:t>Gain</a:t>
            </a:r>
            <a:endParaRPr sz="2000">
              <a:latin typeface="Calibri"/>
              <a:cs typeface="Calibri"/>
            </a:endParaRPr>
          </a:p>
          <a:p>
            <a:pPr marL="960119" lvl="1" indent="-134620">
              <a:lnSpc>
                <a:spcPct val="100000"/>
              </a:lnSpc>
              <a:buFont typeface="Calibri"/>
              <a:buChar char="-"/>
              <a:tabLst>
                <a:tab pos="960755" algn="l"/>
              </a:tabLst>
            </a:pPr>
            <a:r>
              <a:rPr sz="2000" b="1" spc="-10" dirty="0">
                <a:latin typeface="Calibri"/>
                <a:cs typeface="Calibri"/>
              </a:rPr>
              <a:t>Gini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Index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27489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Information</a:t>
            </a:r>
            <a:r>
              <a:rPr spc="-70" dirty="0"/>
              <a:t> </a:t>
            </a:r>
            <a:r>
              <a:rPr spc="-5" dirty="0"/>
              <a:t>Gain: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5563" y="1133043"/>
            <a:ext cx="7760334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935" indent="-356870">
              <a:lnSpc>
                <a:spcPct val="100000"/>
              </a:lnSpc>
              <a:spcBef>
                <a:spcPts val="105"/>
              </a:spcBef>
              <a:buFont typeface="Segoe UI Symbol"/>
              <a:buChar char="➔"/>
              <a:tabLst>
                <a:tab pos="369570" algn="l"/>
              </a:tabLst>
            </a:pPr>
            <a:r>
              <a:rPr sz="2000" b="1" spc="-10" dirty="0">
                <a:latin typeface="Calibri"/>
                <a:cs typeface="Calibri"/>
              </a:rPr>
              <a:t>Information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Gain</a:t>
            </a:r>
            <a:r>
              <a:rPr sz="2000" spc="-5" dirty="0">
                <a:latin typeface="Calibri"/>
                <a:cs typeface="Calibri"/>
              </a:rPr>
              <a:t>: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metric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used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train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Decision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spc="-40" dirty="0">
                <a:latin typeface="Calibri"/>
                <a:cs typeface="Calibri"/>
              </a:rPr>
              <a:t>Trees.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Specifically,</a:t>
            </a:r>
            <a:endParaRPr sz="2000">
              <a:latin typeface="Calibri"/>
              <a:cs typeface="Calibri"/>
            </a:endParaRPr>
          </a:p>
          <a:p>
            <a:pPr marL="368935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this</a:t>
            </a:r>
            <a:r>
              <a:rPr sz="2000" spc="-15" dirty="0">
                <a:latin typeface="Calibri"/>
                <a:cs typeface="Calibri"/>
              </a:rPr>
              <a:t> metric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measure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quality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split.</a:t>
            </a:r>
            <a:endParaRPr sz="2000">
              <a:latin typeface="Calibri"/>
              <a:cs typeface="Calibri"/>
            </a:endParaRPr>
          </a:p>
          <a:p>
            <a:pPr marL="368935" marR="333375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b="1" spc="-10" dirty="0">
                <a:latin typeface="Calibri"/>
                <a:cs typeface="Calibri"/>
              </a:rPr>
              <a:t>Entropy</a:t>
            </a:r>
            <a:r>
              <a:rPr sz="2000" spc="-10" dirty="0">
                <a:latin typeface="Calibri"/>
                <a:cs typeface="Calibri"/>
              </a:rPr>
              <a:t>: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metric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-20" dirty="0">
                <a:latin typeface="Calibri"/>
                <a:cs typeface="Calibri"/>
              </a:rPr>
              <a:t> measure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impurity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given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attribute.</a:t>
            </a:r>
            <a:r>
              <a:rPr sz="2000" spc="-5" dirty="0">
                <a:latin typeface="Calibri"/>
                <a:cs typeface="Calibri"/>
              </a:rPr>
              <a:t> It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specifies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randomness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5563" y="3091494"/>
            <a:ext cx="8011159" cy="129667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165100" algn="ctr">
              <a:lnSpc>
                <a:spcPct val="100000"/>
              </a:lnSpc>
              <a:spcBef>
                <a:spcPts val="1500"/>
              </a:spcBef>
            </a:pP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Entropy</a:t>
            </a:r>
            <a:r>
              <a:rPr sz="20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= -</a:t>
            </a: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[P(yes)</a:t>
            </a:r>
            <a:r>
              <a:rPr sz="2000" b="1" spc="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log2</a:t>
            </a:r>
            <a:r>
              <a:rPr sz="20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P(yes)</a:t>
            </a:r>
            <a:r>
              <a:rPr sz="2000" b="1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20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P(no)</a:t>
            </a:r>
            <a:r>
              <a:rPr sz="20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log2</a:t>
            </a:r>
            <a:r>
              <a:rPr sz="20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P(no)]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2000" spc="-5" dirty="0">
                <a:latin typeface="Calibri"/>
                <a:cs typeface="Calibri"/>
              </a:rPr>
              <a:t>Where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”P”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probability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randomly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picking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element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class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(i.e.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Calibri"/>
                <a:cs typeface="Calibri"/>
              </a:rPr>
              <a:t>proportion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dataset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class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i)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96055" y="2353056"/>
            <a:ext cx="2151888" cy="87172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27489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Information</a:t>
            </a:r>
            <a:r>
              <a:rPr spc="-70" dirty="0"/>
              <a:t> </a:t>
            </a:r>
            <a:r>
              <a:rPr spc="-5" dirty="0"/>
              <a:t>Gain: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75563" y="1133043"/>
            <a:ext cx="8083550" cy="27781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935" indent="-356870">
              <a:lnSpc>
                <a:spcPct val="100000"/>
              </a:lnSpc>
              <a:spcBef>
                <a:spcPts val="105"/>
              </a:spcBef>
              <a:buFont typeface="Segoe UI Symbol"/>
              <a:buChar char="➔"/>
              <a:tabLst>
                <a:tab pos="369570" algn="l"/>
              </a:tabLst>
            </a:pPr>
            <a:r>
              <a:rPr sz="2000" b="1" spc="-10" dirty="0">
                <a:latin typeface="Calibri"/>
                <a:cs typeface="Calibri"/>
              </a:rPr>
              <a:t>Information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spc="-15" dirty="0">
                <a:latin typeface="Calibri"/>
                <a:cs typeface="Calibri"/>
              </a:rPr>
              <a:t>Gain</a:t>
            </a:r>
            <a:r>
              <a:rPr sz="2000" b="1" spc="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measurement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changes</a:t>
            </a:r>
            <a:r>
              <a:rPr sz="2000" spc="-5" dirty="0">
                <a:latin typeface="Calibri"/>
                <a:cs typeface="Calibri"/>
              </a:rPr>
              <a:t> in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entropy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after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endParaRPr sz="2000">
              <a:latin typeface="Calibri"/>
              <a:cs typeface="Calibri"/>
            </a:endParaRPr>
          </a:p>
          <a:p>
            <a:pPr marL="368935">
              <a:lnSpc>
                <a:spcPct val="100000"/>
              </a:lnSpc>
            </a:pPr>
            <a:r>
              <a:rPr sz="2000" spc="-20" dirty="0">
                <a:latin typeface="Calibri"/>
                <a:cs typeface="Calibri"/>
              </a:rPr>
              <a:t>segmentation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dataset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based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attribute.</a:t>
            </a:r>
            <a:endParaRPr sz="2000">
              <a:latin typeface="Calibri"/>
              <a:cs typeface="Calibri"/>
            </a:endParaRPr>
          </a:p>
          <a:p>
            <a:pPr marL="368935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spc="-5" dirty="0">
                <a:latin typeface="Calibri"/>
                <a:cs typeface="Calibri"/>
              </a:rPr>
              <a:t>It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calculates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how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much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information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15" dirty="0">
                <a:latin typeface="Calibri"/>
                <a:cs typeface="Calibri"/>
              </a:rPr>
              <a:t>feature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provides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 about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15" dirty="0">
                <a:latin typeface="Calibri"/>
                <a:cs typeface="Calibri"/>
              </a:rPr>
              <a:t>class.</a:t>
            </a:r>
            <a:endParaRPr sz="2000">
              <a:latin typeface="Calibri"/>
              <a:cs typeface="Calibri"/>
            </a:endParaRPr>
          </a:p>
          <a:p>
            <a:pPr marL="368935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spc="-10" dirty="0">
                <a:latin typeface="Calibri"/>
                <a:cs typeface="Calibri"/>
              </a:rPr>
              <a:t>According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value 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information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gain,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we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split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build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endParaRPr sz="2000">
              <a:latin typeface="Calibri"/>
              <a:cs typeface="Calibri"/>
            </a:endParaRPr>
          </a:p>
          <a:p>
            <a:pPr marL="368935">
              <a:lnSpc>
                <a:spcPct val="100000"/>
              </a:lnSpc>
            </a:pPr>
            <a:r>
              <a:rPr sz="2000" spc="-15" dirty="0">
                <a:latin typeface="Calibri"/>
                <a:cs typeface="Calibri"/>
              </a:rPr>
              <a:t>decision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tree.</a:t>
            </a:r>
            <a:endParaRPr sz="2000">
              <a:latin typeface="Calibri"/>
              <a:cs typeface="Calibri"/>
            </a:endParaRPr>
          </a:p>
          <a:p>
            <a:pPr marL="368935" marR="5080" indent="-356870">
              <a:lnSpc>
                <a:spcPct val="100000"/>
              </a:lnSpc>
              <a:spcBef>
                <a:spcPts val="5"/>
              </a:spcBef>
              <a:buFont typeface="Segoe UI Symbol"/>
              <a:buChar char="➔"/>
              <a:tabLst>
                <a:tab pos="36957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decision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tree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algorithm </a:t>
            </a:r>
            <a:r>
              <a:rPr sz="2000" spc="-15" dirty="0">
                <a:latin typeface="Calibri"/>
                <a:cs typeface="Calibri"/>
              </a:rPr>
              <a:t>always</a:t>
            </a:r>
            <a:r>
              <a:rPr sz="2000" spc="-5" dirty="0">
                <a:latin typeface="Calibri"/>
                <a:cs typeface="Calibri"/>
              </a:rPr>
              <a:t> tries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maximize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value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information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gain,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node/attribute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having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highest </a:t>
            </a:r>
            <a:r>
              <a:rPr sz="2000" spc="-10" dirty="0">
                <a:latin typeface="Calibri"/>
                <a:cs typeface="Calibri"/>
              </a:rPr>
              <a:t>information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gain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split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first</a:t>
            </a:r>
            <a:r>
              <a:rPr sz="1400" spc="-25" dirty="0">
                <a:latin typeface="Arial MT"/>
                <a:cs typeface="Arial MT"/>
              </a:rPr>
              <a:t>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00">
              <a:latin typeface="Arial MT"/>
              <a:cs typeface="Arial MT"/>
            </a:endParaRPr>
          </a:p>
          <a:p>
            <a:pPr marL="48895">
              <a:lnSpc>
                <a:spcPct val="100000"/>
              </a:lnSpc>
            </a:pP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Information</a:t>
            </a:r>
            <a:r>
              <a:rPr sz="20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Gain</a:t>
            </a:r>
            <a:r>
              <a:rPr sz="2000" b="1" spc="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0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Entropy(data)</a:t>
            </a:r>
            <a:r>
              <a:rPr sz="20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2000" b="1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[(Weighted</a:t>
            </a:r>
            <a:r>
              <a:rPr sz="20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30" dirty="0">
                <a:solidFill>
                  <a:srgbClr val="FF0000"/>
                </a:solidFill>
                <a:latin typeface="Calibri"/>
                <a:cs typeface="Calibri"/>
              </a:rPr>
              <a:t>Avg)</a:t>
            </a:r>
            <a:r>
              <a:rPr sz="2000" b="1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*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Entropy(each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feature)]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57785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Information</a:t>
            </a:r>
            <a:r>
              <a:rPr spc="-10" dirty="0"/>
              <a:t> </a:t>
            </a:r>
            <a:r>
              <a:rPr spc="-5" dirty="0"/>
              <a:t>Gain</a:t>
            </a:r>
            <a:r>
              <a:rPr spc="15" dirty="0"/>
              <a:t> </a:t>
            </a:r>
            <a:r>
              <a:rPr spc="-5" dirty="0"/>
              <a:t>-</a:t>
            </a:r>
            <a:r>
              <a:rPr spc="35" dirty="0"/>
              <a:t> </a:t>
            </a:r>
            <a:r>
              <a:rPr spc="-5" dirty="0"/>
              <a:t>Entropy Example: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9448" y="886968"/>
            <a:ext cx="5785104" cy="375513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60788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Information</a:t>
            </a:r>
            <a:r>
              <a:rPr spc="-15" dirty="0"/>
              <a:t> </a:t>
            </a:r>
            <a:r>
              <a:rPr spc="-5" dirty="0"/>
              <a:t>Gain</a:t>
            </a:r>
            <a:r>
              <a:rPr spc="5" dirty="0"/>
              <a:t> </a:t>
            </a:r>
            <a:r>
              <a:rPr spc="-5" dirty="0"/>
              <a:t>-</a:t>
            </a:r>
            <a:r>
              <a:rPr spc="20" dirty="0"/>
              <a:t> </a:t>
            </a:r>
            <a:r>
              <a:rPr spc="-5" dirty="0"/>
              <a:t>Complete</a:t>
            </a:r>
            <a:r>
              <a:rPr spc="60" dirty="0"/>
              <a:t> </a:t>
            </a:r>
            <a:r>
              <a:rPr spc="-5" dirty="0"/>
              <a:t>Example: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4904" y="1045464"/>
            <a:ext cx="8747760" cy="3557270"/>
            <a:chOff x="374904" y="1045464"/>
            <a:chExt cx="8747760" cy="35572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99632" y="1365504"/>
              <a:ext cx="2923032" cy="291998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4904" y="1045464"/>
              <a:ext cx="5836920" cy="355701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60788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Information</a:t>
            </a:r>
            <a:r>
              <a:rPr spc="-15" dirty="0"/>
              <a:t> </a:t>
            </a:r>
            <a:r>
              <a:rPr spc="-5" dirty="0"/>
              <a:t>Gain</a:t>
            </a:r>
            <a:r>
              <a:rPr spc="5" dirty="0"/>
              <a:t> </a:t>
            </a:r>
            <a:r>
              <a:rPr spc="-5" dirty="0"/>
              <a:t>-</a:t>
            </a:r>
            <a:r>
              <a:rPr spc="20" dirty="0"/>
              <a:t> </a:t>
            </a:r>
            <a:r>
              <a:rPr spc="-5" dirty="0"/>
              <a:t>Complete</a:t>
            </a:r>
            <a:r>
              <a:rPr spc="60" dirty="0"/>
              <a:t> </a:t>
            </a:r>
            <a:r>
              <a:rPr spc="-5" dirty="0"/>
              <a:t>Example: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9632" y="1365504"/>
            <a:ext cx="2923032" cy="29199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0248" y="914400"/>
            <a:ext cx="5437632" cy="36576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30854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Gini</a:t>
            </a:r>
            <a:r>
              <a:rPr spc="-45" dirty="0"/>
              <a:t> </a:t>
            </a:r>
            <a:r>
              <a:rPr spc="-5" dirty="0"/>
              <a:t>Index/Impurity: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5563" y="1133043"/>
            <a:ext cx="800354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935" marR="5080" indent="-356870">
              <a:lnSpc>
                <a:spcPct val="100000"/>
              </a:lnSpc>
              <a:spcBef>
                <a:spcPts val="105"/>
              </a:spcBef>
              <a:buFont typeface="Segoe UI Symbol"/>
              <a:buChar char="➔"/>
              <a:tabLst>
                <a:tab pos="369570" algn="l"/>
              </a:tabLst>
            </a:pPr>
            <a:r>
              <a:rPr sz="2000" b="1" spc="-10" dirty="0">
                <a:latin typeface="Calibri"/>
                <a:cs typeface="Calibri"/>
              </a:rPr>
              <a:t>Gini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Impurity: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probability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incorrectly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classifying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randomly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chosen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element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dataset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if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it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was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randomly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labelled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according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class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distribution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dataset.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55904" y="2051304"/>
            <a:ext cx="7040880" cy="2585085"/>
            <a:chOff x="755904" y="2051304"/>
            <a:chExt cx="7040880" cy="25850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5904" y="2682240"/>
              <a:ext cx="7040880" cy="195376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92424" y="2051304"/>
              <a:ext cx="2359152" cy="76200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30854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Gini</a:t>
            </a:r>
            <a:r>
              <a:rPr spc="-45" dirty="0"/>
              <a:t> </a:t>
            </a:r>
            <a:r>
              <a:rPr spc="-5" dirty="0"/>
              <a:t>Index/Impurity: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4175" indent="-356870">
              <a:lnSpc>
                <a:spcPct val="100000"/>
              </a:lnSpc>
              <a:spcBef>
                <a:spcPts val="105"/>
              </a:spcBef>
              <a:buFont typeface="Segoe UI Symbol"/>
              <a:buChar char="➔"/>
              <a:tabLst>
                <a:tab pos="385445" algn="l"/>
              </a:tabLst>
            </a:pPr>
            <a:r>
              <a:rPr b="1" spc="-10" dirty="0">
                <a:latin typeface="Calibri"/>
                <a:cs typeface="Calibri"/>
              </a:rPr>
              <a:t>Gini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Index</a:t>
            </a:r>
            <a:r>
              <a:rPr b="1" spc="20" dirty="0">
                <a:latin typeface="Calibri"/>
                <a:cs typeface="Calibri"/>
              </a:rPr>
              <a:t> </a:t>
            </a:r>
            <a:r>
              <a:rPr spc="-5" dirty="0"/>
              <a:t>is</a:t>
            </a:r>
            <a:r>
              <a:rPr spc="10" dirty="0"/>
              <a:t> </a:t>
            </a:r>
            <a:r>
              <a:rPr dirty="0"/>
              <a:t>a</a:t>
            </a:r>
            <a:r>
              <a:rPr spc="-20" dirty="0"/>
              <a:t> measure</a:t>
            </a:r>
            <a:r>
              <a:rPr spc="85" dirty="0"/>
              <a:t> </a:t>
            </a:r>
            <a:r>
              <a:rPr dirty="0"/>
              <a:t>of</a:t>
            </a:r>
            <a:r>
              <a:rPr spc="-5" dirty="0"/>
              <a:t> impurity</a:t>
            </a:r>
            <a:r>
              <a:rPr spc="-15" dirty="0"/>
              <a:t> used</a:t>
            </a:r>
            <a:r>
              <a:rPr spc="45" dirty="0"/>
              <a:t> </a:t>
            </a:r>
            <a:r>
              <a:rPr spc="-5" dirty="0"/>
              <a:t>while</a:t>
            </a:r>
            <a:r>
              <a:rPr spc="-10" dirty="0"/>
              <a:t> </a:t>
            </a:r>
            <a:r>
              <a:rPr spc="-5" dirty="0"/>
              <a:t>creating </a:t>
            </a:r>
            <a:r>
              <a:rPr dirty="0"/>
              <a:t>a</a:t>
            </a:r>
            <a:r>
              <a:rPr spc="5" dirty="0"/>
              <a:t> </a:t>
            </a:r>
            <a:r>
              <a:rPr spc="-15" dirty="0"/>
              <a:t>decision</a:t>
            </a:r>
            <a:r>
              <a:rPr spc="80" dirty="0"/>
              <a:t> </a:t>
            </a:r>
            <a:r>
              <a:rPr spc="-5" dirty="0"/>
              <a:t>tree</a:t>
            </a:r>
            <a:r>
              <a:rPr spc="5" dirty="0"/>
              <a:t> </a:t>
            </a:r>
            <a:r>
              <a:rPr spc="-5" dirty="0"/>
              <a:t>in</a:t>
            </a:r>
          </a:p>
          <a:p>
            <a:pPr marL="384175">
              <a:lnSpc>
                <a:spcPct val="100000"/>
              </a:lnSpc>
            </a:pPr>
            <a:r>
              <a:rPr dirty="0"/>
              <a:t>the</a:t>
            </a:r>
            <a:r>
              <a:rPr spc="-65" dirty="0"/>
              <a:t> </a:t>
            </a:r>
            <a:r>
              <a:rPr spc="-15" dirty="0"/>
              <a:t>CART</a:t>
            </a:r>
            <a:r>
              <a:rPr spc="-10" dirty="0"/>
              <a:t> </a:t>
            </a:r>
            <a:r>
              <a:rPr spc="-5" dirty="0"/>
              <a:t>algorithm.</a:t>
            </a:r>
          </a:p>
          <a:p>
            <a:pPr marL="384175" marR="207645" indent="-356870">
              <a:lnSpc>
                <a:spcPct val="100000"/>
              </a:lnSpc>
              <a:buFont typeface="Segoe UI Symbol"/>
              <a:buChar char="➔"/>
              <a:tabLst>
                <a:tab pos="385445" algn="l"/>
              </a:tabLst>
            </a:pPr>
            <a:r>
              <a:rPr dirty="0"/>
              <a:t>An</a:t>
            </a:r>
            <a:r>
              <a:rPr spc="-20" dirty="0"/>
              <a:t> </a:t>
            </a:r>
            <a:r>
              <a:rPr spc="-10" dirty="0"/>
              <a:t>attribute</a:t>
            </a:r>
            <a:r>
              <a:rPr dirty="0"/>
              <a:t> </a:t>
            </a:r>
            <a:r>
              <a:rPr spc="-5" dirty="0"/>
              <a:t>with</a:t>
            </a:r>
            <a:r>
              <a:rPr dirty="0"/>
              <a:t> the</a:t>
            </a:r>
            <a:r>
              <a:rPr spc="-5" dirty="0"/>
              <a:t> low</a:t>
            </a:r>
            <a:r>
              <a:rPr spc="-35" dirty="0"/>
              <a:t> </a:t>
            </a:r>
            <a:r>
              <a:rPr spc="-5" dirty="0"/>
              <a:t>Gini</a:t>
            </a:r>
            <a:r>
              <a:rPr spc="45" dirty="0"/>
              <a:t> </a:t>
            </a:r>
            <a:r>
              <a:rPr spc="-10" dirty="0"/>
              <a:t>Index</a:t>
            </a:r>
            <a:r>
              <a:rPr spc="-35" dirty="0"/>
              <a:t> </a:t>
            </a:r>
            <a:r>
              <a:rPr spc="-5" dirty="0"/>
              <a:t>should</a:t>
            </a:r>
            <a:r>
              <a:rPr spc="-40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25" dirty="0"/>
              <a:t>preferred</a:t>
            </a:r>
            <a:r>
              <a:rPr spc="75" dirty="0"/>
              <a:t> </a:t>
            </a:r>
            <a:r>
              <a:rPr dirty="0"/>
              <a:t>as</a:t>
            </a:r>
            <a:r>
              <a:rPr spc="15" dirty="0"/>
              <a:t> </a:t>
            </a:r>
            <a:r>
              <a:rPr spc="-10" dirty="0"/>
              <a:t>compared </a:t>
            </a:r>
            <a:r>
              <a:rPr spc="-25" dirty="0"/>
              <a:t>to </a:t>
            </a:r>
            <a:r>
              <a:rPr spc="-44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spc="-5" dirty="0"/>
              <a:t>high</a:t>
            </a:r>
            <a:r>
              <a:rPr spc="-25" dirty="0"/>
              <a:t> </a:t>
            </a:r>
            <a:r>
              <a:rPr spc="-5" dirty="0"/>
              <a:t>Gini</a:t>
            </a:r>
            <a:r>
              <a:rPr spc="5" dirty="0"/>
              <a:t> </a:t>
            </a:r>
            <a:r>
              <a:rPr spc="-10" dirty="0"/>
              <a:t>Index.</a:t>
            </a:r>
          </a:p>
          <a:p>
            <a:pPr marL="384175" indent="-356870">
              <a:lnSpc>
                <a:spcPct val="100000"/>
              </a:lnSpc>
              <a:buFont typeface="Segoe UI Symbol"/>
              <a:buChar char="➔"/>
              <a:tabLst>
                <a:tab pos="385445" algn="l"/>
              </a:tabLst>
            </a:pPr>
            <a:r>
              <a:rPr spc="-5" dirty="0"/>
              <a:t>It only</a:t>
            </a:r>
            <a:r>
              <a:rPr spc="-40" dirty="0"/>
              <a:t> </a:t>
            </a:r>
            <a:r>
              <a:rPr spc="-25" dirty="0"/>
              <a:t>creates</a:t>
            </a:r>
            <a:r>
              <a:rPr spc="65" dirty="0"/>
              <a:t> </a:t>
            </a:r>
            <a:r>
              <a:rPr b="1" dirty="0">
                <a:latin typeface="Calibri"/>
                <a:cs typeface="Calibri"/>
              </a:rPr>
              <a:t>binary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splits</a:t>
            </a:r>
            <a:r>
              <a:rPr spc="-10" dirty="0"/>
              <a:t>,</a:t>
            </a:r>
            <a:r>
              <a:rPr dirty="0"/>
              <a:t> and the</a:t>
            </a:r>
            <a:r>
              <a:rPr spc="-15" dirty="0"/>
              <a:t> CART</a:t>
            </a:r>
            <a:r>
              <a:rPr dirty="0"/>
              <a:t> </a:t>
            </a:r>
            <a:r>
              <a:rPr spc="-5" dirty="0"/>
              <a:t>algorithm</a:t>
            </a:r>
            <a:r>
              <a:rPr spc="-15" dirty="0"/>
              <a:t> uses</a:t>
            </a:r>
            <a:r>
              <a:rPr spc="5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Gini</a:t>
            </a:r>
            <a:r>
              <a:rPr spc="80" dirty="0"/>
              <a:t> </a:t>
            </a:r>
            <a:r>
              <a:rPr spc="-10" dirty="0"/>
              <a:t>Index</a:t>
            </a:r>
            <a:r>
              <a:rPr spc="-25" dirty="0"/>
              <a:t> to</a:t>
            </a:r>
          </a:p>
          <a:p>
            <a:pPr marL="384175">
              <a:lnSpc>
                <a:spcPct val="100000"/>
              </a:lnSpc>
              <a:spcBef>
                <a:spcPts val="5"/>
              </a:spcBef>
            </a:pPr>
            <a:r>
              <a:rPr spc="-15" dirty="0"/>
              <a:t>create </a:t>
            </a:r>
            <a:r>
              <a:rPr spc="-5" dirty="0"/>
              <a:t>binary</a:t>
            </a:r>
            <a:r>
              <a:rPr spc="-70" dirty="0"/>
              <a:t> </a:t>
            </a:r>
            <a:r>
              <a:rPr spc="-5" dirty="0"/>
              <a:t>splits.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50476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Gini Index</a:t>
            </a:r>
            <a:r>
              <a:rPr spc="-35" dirty="0"/>
              <a:t> </a:t>
            </a:r>
            <a:r>
              <a:rPr spc="-5" dirty="0"/>
              <a:t>-</a:t>
            </a:r>
            <a:r>
              <a:rPr spc="5" dirty="0"/>
              <a:t> </a:t>
            </a:r>
            <a:r>
              <a:rPr spc="-5" dirty="0"/>
              <a:t>Complete</a:t>
            </a:r>
            <a:r>
              <a:rPr spc="50" dirty="0"/>
              <a:t> </a:t>
            </a:r>
            <a:r>
              <a:rPr spc="-5" dirty="0"/>
              <a:t>Example: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0415" y="1158240"/>
            <a:ext cx="8842375" cy="3127375"/>
            <a:chOff x="280415" y="1158240"/>
            <a:chExt cx="8842375" cy="31273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0415" y="1158240"/>
              <a:ext cx="6434328" cy="304190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99631" y="1365504"/>
              <a:ext cx="2923032" cy="291998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50476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Gini Index</a:t>
            </a:r>
            <a:r>
              <a:rPr spc="-35" dirty="0"/>
              <a:t> </a:t>
            </a:r>
            <a:r>
              <a:rPr spc="-5" dirty="0"/>
              <a:t>-</a:t>
            </a:r>
            <a:r>
              <a:rPr spc="5" dirty="0"/>
              <a:t> </a:t>
            </a:r>
            <a:r>
              <a:rPr spc="-5" dirty="0"/>
              <a:t>Complete</a:t>
            </a:r>
            <a:r>
              <a:rPr spc="50" dirty="0"/>
              <a:t> </a:t>
            </a:r>
            <a:r>
              <a:rPr spc="-5" dirty="0"/>
              <a:t>Example: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9632" y="1365504"/>
            <a:ext cx="2923032" cy="29199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6240" y="1725168"/>
            <a:ext cx="4593336" cy="227685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50476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Gini Index</a:t>
            </a:r>
            <a:r>
              <a:rPr spc="-35" dirty="0"/>
              <a:t> </a:t>
            </a:r>
            <a:r>
              <a:rPr spc="-5" dirty="0"/>
              <a:t>-</a:t>
            </a:r>
            <a:r>
              <a:rPr spc="5" dirty="0"/>
              <a:t> </a:t>
            </a:r>
            <a:r>
              <a:rPr spc="-5" dirty="0"/>
              <a:t>Complete</a:t>
            </a:r>
            <a:r>
              <a:rPr spc="50" dirty="0"/>
              <a:t> </a:t>
            </a:r>
            <a:r>
              <a:rPr spc="-5" dirty="0"/>
              <a:t>Example: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2984" y="1249680"/>
            <a:ext cx="8869680" cy="3035935"/>
            <a:chOff x="252984" y="1249680"/>
            <a:chExt cx="8869680" cy="30359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99631" y="1365504"/>
              <a:ext cx="2923032" cy="291998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2984" y="1249680"/>
              <a:ext cx="6071616" cy="298704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44742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Decision Tree</a:t>
            </a:r>
            <a:r>
              <a:rPr spc="15" dirty="0"/>
              <a:t> </a:t>
            </a:r>
            <a:r>
              <a:rPr spc="-5" dirty="0"/>
              <a:t>ID3 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1123" y="1089660"/>
            <a:ext cx="7921752" cy="29718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Decision Tree</a:t>
            </a:r>
            <a:r>
              <a:rPr spc="15" dirty="0"/>
              <a:t> </a:t>
            </a:r>
            <a:r>
              <a:rPr spc="-5" dirty="0"/>
              <a:t>ID3 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6730" y="810894"/>
            <a:ext cx="8575040" cy="407606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32535">
              <a:lnSpc>
                <a:spcPct val="100000"/>
              </a:lnSpc>
              <a:spcBef>
                <a:spcPts val="855"/>
              </a:spcBef>
            </a:pPr>
            <a:r>
              <a:rPr sz="1800" b="1" dirty="0">
                <a:latin typeface="Calibri"/>
                <a:cs typeface="Calibri"/>
              </a:rPr>
              <a:t>Build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Decision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35" dirty="0">
                <a:latin typeface="Calibri"/>
                <a:cs typeface="Calibri"/>
              </a:rPr>
              <a:t>Tree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Steps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USING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ID3 </a:t>
            </a:r>
            <a:r>
              <a:rPr sz="1800" b="1" spc="-5" dirty="0">
                <a:latin typeface="Calibri"/>
                <a:cs typeface="Calibri"/>
              </a:rPr>
              <a:t>Algorithm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317500">
              <a:lnSpc>
                <a:spcPct val="100000"/>
              </a:lnSpc>
              <a:spcBef>
                <a:spcPts val="755"/>
              </a:spcBef>
            </a:pPr>
            <a:r>
              <a:rPr sz="1800" i="1" dirty="0">
                <a:latin typeface="Times New Roman"/>
                <a:cs typeface="Times New Roman"/>
              </a:rPr>
              <a:t>Step</a:t>
            </a:r>
            <a:r>
              <a:rPr sz="1800" i="1" spc="-1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Calculate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entropy</a:t>
            </a:r>
            <a:r>
              <a:rPr sz="1800" spc="-5" dirty="0">
                <a:latin typeface="Calibri"/>
                <a:cs typeface="Calibri"/>
              </a:rPr>
              <a:t> of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target</a:t>
            </a:r>
            <a:r>
              <a:rPr sz="1800" spc="-5" dirty="0">
                <a:latin typeface="Calibri"/>
                <a:cs typeface="Calibri"/>
              </a:rPr>
              <a:t> Label</a:t>
            </a:r>
            <a:r>
              <a:rPr sz="1800" dirty="0">
                <a:latin typeface="Calibri"/>
                <a:cs typeface="Calibri"/>
              </a:rPr>
              <a:t> .</a:t>
            </a:r>
            <a:endParaRPr sz="1800">
              <a:latin typeface="Calibri"/>
              <a:cs typeface="Calibri"/>
            </a:endParaRPr>
          </a:p>
          <a:p>
            <a:pPr marL="317500" marR="744855">
              <a:lnSpc>
                <a:spcPct val="150000"/>
              </a:lnSpc>
              <a:spcBef>
                <a:spcPts val="5"/>
              </a:spcBef>
            </a:pPr>
            <a:r>
              <a:rPr sz="1800" i="1" dirty="0">
                <a:latin typeface="Times New Roman"/>
                <a:cs typeface="Times New Roman"/>
              </a:rPr>
              <a:t>Step</a:t>
            </a:r>
            <a:r>
              <a:rPr sz="1800" i="1" spc="-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dataset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dirty="0">
                <a:latin typeface="Calibri"/>
                <a:cs typeface="Calibri"/>
              </a:rPr>
              <a:t> then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split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different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attributes.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Calculate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entropy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information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gain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attributes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(Column)</a:t>
            </a:r>
            <a:endParaRPr sz="1800">
              <a:latin typeface="Calibri"/>
              <a:cs typeface="Calibri"/>
            </a:endParaRPr>
          </a:p>
          <a:p>
            <a:pPr marL="317500">
              <a:lnSpc>
                <a:spcPct val="100000"/>
              </a:lnSpc>
              <a:spcBef>
                <a:spcPts val="1075"/>
              </a:spcBef>
            </a:pPr>
            <a:r>
              <a:rPr sz="1800" i="1" dirty="0">
                <a:latin typeface="Times New Roman"/>
                <a:cs typeface="Times New Roman"/>
              </a:rPr>
              <a:t>Step</a:t>
            </a:r>
            <a:r>
              <a:rPr sz="1800" i="1" spc="-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3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Choose </a:t>
            </a:r>
            <a:r>
              <a:rPr sz="1800" spc="-10" dirty="0">
                <a:latin typeface="Calibri"/>
                <a:cs typeface="Calibri"/>
              </a:rPr>
              <a:t>attribute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with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largest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information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gain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decision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node,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divide</a:t>
            </a:r>
            <a:endParaRPr sz="1800">
              <a:latin typeface="Calibri"/>
              <a:cs typeface="Calibri"/>
            </a:endParaRPr>
          </a:p>
          <a:p>
            <a:pPr marL="317500">
              <a:lnSpc>
                <a:spcPct val="100000"/>
              </a:lnSpc>
              <a:spcBef>
                <a:spcPts val="1085"/>
              </a:spcBef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dataset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by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its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branches</a:t>
            </a:r>
            <a:r>
              <a:rPr sz="1800" dirty="0">
                <a:latin typeface="Calibri"/>
                <a:cs typeface="Calibri"/>
              </a:rPr>
              <a:t> and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repeat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same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process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every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branch</a:t>
            </a:r>
            <a:endParaRPr sz="1800">
              <a:latin typeface="Calibri"/>
              <a:cs typeface="Calibri"/>
            </a:endParaRPr>
          </a:p>
          <a:p>
            <a:pPr marL="317500">
              <a:lnSpc>
                <a:spcPct val="100000"/>
              </a:lnSpc>
              <a:spcBef>
                <a:spcPts val="1080"/>
              </a:spcBef>
            </a:pPr>
            <a:r>
              <a:rPr sz="1800" i="1" dirty="0">
                <a:latin typeface="Times New Roman"/>
                <a:cs typeface="Times New Roman"/>
              </a:rPr>
              <a:t>Step</a:t>
            </a:r>
            <a:r>
              <a:rPr sz="1800" i="1" spc="-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4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10" dirty="0">
                <a:latin typeface="Calibri"/>
                <a:cs typeface="Calibri"/>
              </a:rPr>
              <a:t>branch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with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entropy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leaf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node. And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 branch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with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entropy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more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  <a:p>
            <a:pPr marL="317500">
              <a:lnSpc>
                <a:spcPct val="100000"/>
              </a:lnSpc>
              <a:spcBef>
                <a:spcPts val="1080"/>
              </a:spcBef>
            </a:pPr>
            <a:r>
              <a:rPr sz="1800" spc="-5" dirty="0">
                <a:latin typeface="Calibri"/>
                <a:cs typeface="Calibri"/>
              </a:rPr>
              <a:t>needs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further</a:t>
            </a:r>
            <a:r>
              <a:rPr sz="1800" spc="-10" dirty="0">
                <a:latin typeface="Calibri"/>
                <a:cs typeface="Calibri"/>
              </a:rPr>
              <a:t> splitting</a:t>
            </a:r>
            <a:endParaRPr sz="1800">
              <a:latin typeface="Calibri"/>
              <a:cs typeface="Calibri"/>
            </a:endParaRPr>
          </a:p>
          <a:p>
            <a:pPr marL="317500">
              <a:lnSpc>
                <a:spcPct val="100000"/>
              </a:lnSpc>
              <a:spcBef>
                <a:spcPts val="1085"/>
              </a:spcBef>
            </a:pPr>
            <a:r>
              <a:rPr sz="1800" i="1" dirty="0">
                <a:latin typeface="Times New Roman"/>
                <a:cs typeface="Times New Roman"/>
              </a:rPr>
              <a:t>Step</a:t>
            </a:r>
            <a:r>
              <a:rPr sz="1800" i="1" spc="-1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5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dirty="0">
                <a:latin typeface="Calibri"/>
                <a:cs typeface="Calibri"/>
              </a:rPr>
              <a:t> ID3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algorithm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dirty="0">
                <a:latin typeface="Calibri"/>
                <a:cs typeface="Calibri"/>
              </a:rPr>
              <a:t> run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recursively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non-leaf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branches,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until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data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000" spc="10" dirty="0">
                <a:solidFill>
                  <a:srgbClr val="FF0000"/>
                </a:solidFill>
                <a:latin typeface="Arial MT"/>
                <a:cs typeface="Arial MT"/>
              </a:rPr>
              <a:t>23</a:t>
            </a:r>
            <a:r>
              <a:rPr sz="2700" spc="15" baseline="3086" dirty="0">
                <a:latin typeface="Calibri"/>
                <a:cs typeface="Calibri"/>
              </a:rPr>
              <a:t>classified</a:t>
            </a:r>
            <a:endParaRPr sz="2700" baseline="3086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23" y="1126312"/>
            <a:ext cx="42024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Times New Roman"/>
                <a:cs typeface="Times New Roman"/>
              </a:rPr>
              <a:t>Step</a:t>
            </a:r>
            <a:r>
              <a:rPr sz="1800" i="1" spc="-1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Calibri"/>
                <a:cs typeface="Calibri"/>
              </a:rPr>
              <a:t>: </a:t>
            </a:r>
            <a:r>
              <a:rPr sz="1800" spc="-10" dirty="0">
                <a:latin typeface="Calibri"/>
                <a:cs typeface="Calibri"/>
              </a:rPr>
              <a:t>Calculate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entropy</a:t>
            </a:r>
            <a:r>
              <a:rPr sz="1800" spc="-5" dirty="0">
                <a:latin typeface="Calibri"/>
                <a:cs typeface="Calibri"/>
              </a:rPr>
              <a:t> of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target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Label</a:t>
            </a:r>
            <a:r>
              <a:rPr sz="1800" dirty="0">
                <a:latin typeface="Calibri"/>
                <a:cs typeface="Calibri"/>
              </a:rPr>
              <a:t> 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3400" y="1667256"/>
            <a:ext cx="4096511" cy="25069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4675" y="427100"/>
            <a:ext cx="44742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Decision Tree</a:t>
            </a:r>
            <a:r>
              <a:rPr sz="2800" u="heavy" spc="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 </a:t>
            </a:r>
            <a:r>
              <a:rPr sz="2800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ID3 Algorithm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Decision Tree</a:t>
            </a:r>
            <a:r>
              <a:rPr spc="15" dirty="0"/>
              <a:t> </a:t>
            </a:r>
            <a:r>
              <a:rPr spc="-5" dirty="0"/>
              <a:t>ID3 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1523" y="866245"/>
            <a:ext cx="7529195" cy="84836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1800" i="1" dirty="0">
                <a:latin typeface="Times New Roman"/>
                <a:cs typeface="Times New Roman"/>
              </a:rPr>
              <a:t>Step</a:t>
            </a:r>
            <a:r>
              <a:rPr sz="1800" i="1" spc="-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dataset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dirty="0">
                <a:latin typeface="Calibri"/>
                <a:cs typeface="Calibri"/>
              </a:rPr>
              <a:t> then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split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different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attributes.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Calculate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entropy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Calibri"/>
                <a:cs typeface="Calibri"/>
              </a:rPr>
              <a:t>information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gain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attributes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(Column)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487" y="1889760"/>
            <a:ext cx="3494532" cy="248412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267200" y="1328928"/>
            <a:ext cx="4201795" cy="3485515"/>
            <a:chOff x="4267200" y="1328928"/>
            <a:chExt cx="4201795" cy="348551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53355" y="1328928"/>
              <a:ext cx="3715511" cy="216255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67200" y="3531108"/>
              <a:ext cx="3293363" cy="12832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Decision Tree</a:t>
            </a:r>
            <a:r>
              <a:rPr spc="15" dirty="0"/>
              <a:t> </a:t>
            </a:r>
            <a:r>
              <a:rPr spc="-5" dirty="0"/>
              <a:t>ID3 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1523" y="866245"/>
            <a:ext cx="8345805" cy="84836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1800" i="1" dirty="0">
                <a:latin typeface="Times New Roman"/>
                <a:cs typeface="Times New Roman"/>
              </a:rPr>
              <a:t>Step</a:t>
            </a:r>
            <a:r>
              <a:rPr sz="1800" i="1" spc="-1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3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Choose </a:t>
            </a:r>
            <a:r>
              <a:rPr sz="1800" spc="-10" dirty="0">
                <a:latin typeface="Calibri"/>
                <a:cs typeface="Calibri"/>
              </a:rPr>
              <a:t>attribute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with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largest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information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gain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decision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node,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divide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Calibri"/>
                <a:cs typeface="Calibri"/>
              </a:rPr>
              <a:t>dataset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its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branches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repeat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same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process</a:t>
            </a:r>
            <a:r>
              <a:rPr sz="1800" spc="-5" dirty="0">
                <a:latin typeface="Calibri"/>
                <a:cs typeface="Calibri"/>
              </a:rPr>
              <a:t> 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every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branch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7547" y="1802892"/>
            <a:ext cx="2999231" cy="19476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088" y="1889760"/>
            <a:ext cx="4939284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675" y="427100"/>
            <a:ext cx="44742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Decision Tree</a:t>
            </a:r>
            <a:r>
              <a:rPr sz="2800" u="heavy" spc="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 </a:t>
            </a:r>
            <a:r>
              <a:rPr sz="2800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ID3 Algorithm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1523" y="1002919"/>
            <a:ext cx="46405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Times New Roman"/>
                <a:cs typeface="Times New Roman"/>
              </a:rPr>
              <a:t>Step</a:t>
            </a:r>
            <a:r>
              <a:rPr sz="1800" i="1" spc="-1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4a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10" dirty="0">
                <a:latin typeface="Calibri"/>
                <a:cs typeface="Calibri"/>
              </a:rPr>
              <a:t>branch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with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entropy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r>
              <a:rPr sz="1800" spc="-5" dirty="0">
                <a:latin typeface="Calibri"/>
                <a:cs typeface="Calibri"/>
              </a:rPr>
              <a:t> is</a:t>
            </a:r>
            <a:r>
              <a:rPr sz="1800" dirty="0">
                <a:latin typeface="Calibri"/>
                <a:cs typeface="Calibri"/>
              </a:rPr>
              <a:t> a</a:t>
            </a:r>
            <a:r>
              <a:rPr sz="1800" spc="-5" dirty="0">
                <a:latin typeface="Calibri"/>
                <a:cs typeface="Calibri"/>
              </a:rPr>
              <a:t> leaf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node.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1351788"/>
            <a:ext cx="6400800" cy="290017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675" y="427100"/>
            <a:ext cx="44742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Decision Tree</a:t>
            </a:r>
            <a:r>
              <a:rPr sz="2800" u="heavy" spc="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 </a:t>
            </a:r>
            <a:r>
              <a:rPr sz="2800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ID3 Algorithm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1523" y="1002919"/>
            <a:ext cx="6262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Times New Roman"/>
                <a:cs typeface="Times New Roman"/>
              </a:rPr>
              <a:t>Step</a:t>
            </a:r>
            <a:r>
              <a:rPr sz="1800" i="1" spc="-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4b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branch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with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entropy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more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 0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needs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further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splitting.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1351788"/>
            <a:ext cx="5867400" cy="326897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Decision Tree</a:t>
            </a:r>
            <a:r>
              <a:rPr spc="15" dirty="0"/>
              <a:t> </a:t>
            </a:r>
            <a:r>
              <a:rPr spc="-5" dirty="0"/>
              <a:t>ID3 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1523" y="866245"/>
            <a:ext cx="7822565" cy="84836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1800" i="1" dirty="0">
                <a:latin typeface="Times New Roman"/>
                <a:cs typeface="Times New Roman"/>
              </a:rPr>
              <a:t>Step</a:t>
            </a:r>
            <a:r>
              <a:rPr sz="1800" i="1" spc="-1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5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dirty="0">
                <a:latin typeface="Calibri"/>
                <a:cs typeface="Calibri"/>
              </a:rPr>
              <a:t> ID3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algorithm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dirty="0">
                <a:latin typeface="Calibri"/>
                <a:cs typeface="Calibri"/>
              </a:rPr>
              <a:t> run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recursively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non-leaf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branches,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until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data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5" dirty="0">
                <a:latin typeface="Calibri"/>
                <a:cs typeface="Calibri"/>
              </a:rPr>
              <a:t>classified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1437132"/>
            <a:ext cx="5943600" cy="327812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52819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Advantages</a:t>
            </a:r>
            <a:r>
              <a:rPr spc="-1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5" dirty="0"/>
              <a:t>the</a:t>
            </a:r>
            <a:r>
              <a:rPr spc="5" dirty="0"/>
              <a:t> </a:t>
            </a:r>
            <a:r>
              <a:rPr spc="-5" dirty="0"/>
              <a:t>Decision</a:t>
            </a:r>
            <a:r>
              <a:rPr spc="5" dirty="0"/>
              <a:t> </a:t>
            </a:r>
            <a:r>
              <a:rPr spc="-5" dirty="0"/>
              <a:t>Tree: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75563" y="1133043"/>
            <a:ext cx="7743825" cy="1856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935" indent="-356870">
              <a:lnSpc>
                <a:spcPct val="100000"/>
              </a:lnSpc>
              <a:spcBef>
                <a:spcPts val="105"/>
              </a:spcBef>
              <a:buFont typeface="Segoe UI Symbol"/>
              <a:buChar char="➔"/>
              <a:tabLst>
                <a:tab pos="369570" algn="l"/>
              </a:tabLst>
            </a:pPr>
            <a:r>
              <a:rPr sz="2000" spc="-5" dirty="0">
                <a:latin typeface="Calibri"/>
                <a:cs typeface="Calibri"/>
              </a:rPr>
              <a:t>It is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simple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understand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follows</a:t>
            </a:r>
            <a:r>
              <a:rPr sz="2000" dirty="0">
                <a:latin typeface="Calibri"/>
                <a:cs typeface="Calibri"/>
              </a:rPr>
              <a:t> the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same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process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which</a:t>
            </a:r>
            <a:r>
              <a:rPr sz="2000" dirty="0">
                <a:latin typeface="Calibri"/>
                <a:cs typeface="Calibri"/>
              </a:rPr>
              <a:t> 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human</a:t>
            </a:r>
            <a:endParaRPr sz="2000">
              <a:latin typeface="Calibri"/>
              <a:cs typeface="Calibri"/>
            </a:endParaRPr>
          </a:p>
          <a:p>
            <a:pPr marL="368935">
              <a:lnSpc>
                <a:spcPct val="100000"/>
              </a:lnSpc>
            </a:pPr>
            <a:r>
              <a:rPr sz="2000" spc="-15" dirty="0">
                <a:latin typeface="Calibri"/>
                <a:cs typeface="Calibri"/>
              </a:rPr>
              <a:t>follow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while making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any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decision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real-life.</a:t>
            </a:r>
            <a:endParaRPr sz="2000">
              <a:latin typeface="Calibri"/>
              <a:cs typeface="Calibri"/>
            </a:endParaRPr>
          </a:p>
          <a:p>
            <a:pPr marL="368935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spc="-5" dirty="0">
                <a:latin typeface="Calibri"/>
                <a:cs typeface="Calibri"/>
              </a:rPr>
              <a:t>It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can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very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useful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solving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decision-related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problems.</a:t>
            </a:r>
            <a:endParaRPr sz="2000">
              <a:latin typeface="Calibri"/>
              <a:cs typeface="Calibri"/>
            </a:endParaRPr>
          </a:p>
          <a:p>
            <a:pPr marL="368935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spc="-5" dirty="0">
                <a:latin typeface="Calibri"/>
                <a:cs typeface="Calibri"/>
              </a:rPr>
              <a:t>It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helps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think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about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possible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outcomes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problem.</a:t>
            </a:r>
            <a:endParaRPr sz="2000">
              <a:latin typeface="Calibri"/>
              <a:cs typeface="Calibri"/>
            </a:endParaRPr>
          </a:p>
          <a:p>
            <a:pPr marL="368935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spc="-20" dirty="0">
                <a:latin typeface="Calibri"/>
                <a:cs typeface="Calibri"/>
              </a:rPr>
              <a:t>There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-15" dirty="0">
                <a:latin typeface="Calibri"/>
                <a:cs typeface="Calibri"/>
              </a:rPr>
              <a:t> less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requirement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data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cleaning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compared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other</a:t>
            </a:r>
            <a:endParaRPr sz="2000">
              <a:latin typeface="Calibri"/>
              <a:cs typeface="Calibri"/>
            </a:endParaRPr>
          </a:p>
          <a:p>
            <a:pPr marL="368935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Calibri"/>
                <a:cs typeface="Calibri"/>
              </a:rPr>
              <a:t>algorithms.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57600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Disadvantages</a:t>
            </a:r>
            <a:r>
              <a:rPr spc="10" dirty="0"/>
              <a:t> </a:t>
            </a:r>
            <a:r>
              <a:rPr spc="-5" dirty="0"/>
              <a:t>of</a:t>
            </a:r>
            <a:r>
              <a:rPr dirty="0"/>
              <a:t> </a:t>
            </a:r>
            <a:r>
              <a:rPr spc="-5" dirty="0"/>
              <a:t>the</a:t>
            </a:r>
            <a:r>
              <a:rPr spc="20" dirty="0"/>
              <a:t> </a:t>
            </a:r>
            <a:r>
              <a:rPr spc="-5" dirty="0"/>
              <a:t>Decision</a:t>
            </a:r>
            <a:r>
              <a:rPr spc="15" dirty="0"/>
              <a:t> </a:t>
            </a:r>
            <a:r>
              <a:rPr spc="-5" dirty="0"/>
              <a:t>Tree: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75563" y="1133043"/>
            <a:ext cx="7781290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935" indent="-356870">
              <a:lnSpc>
                <a:spcPct val="100000"/>
              </a:lnSpc>
              <a:spcBef>
                <a:spcPts val="105"/>
              </a:spcBef>
              <a:buFont typeface="Segoe UI Symbol"/>
              <a:buChar char="➔"/>
              <a:tabLst>
                <a:tab pos="369570" algn="l"/>
              </a:tabLst>
            </a:pPr>
            <a:r>
              <a:rPr sz="2000" spc="-10" dirty="0">
                <a:latin typeface="Calibri"/>
                <a:cs typeface="Calibri"/>
              </a:rPr>
              <a:t>The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decision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tree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contains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lots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layers, </a:t>
            </a:r>
            <a:r>
              <a:rPr sz="2000" spc="-5" dirty="0">
                <a:latin typeface="Calibri"/>
                <a:cs typeface="Calibri"/>
              </a:rPr>
              <a:t>which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makes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it</a:t>
            </a:r>
            <a:r>
              <a:rPr sz="2000" spc="-10" dirty="0">
                <a:latin typeface="Calibri"/>
                <a:cs typeface="Calibri"/>
              </a:rPr>
              <a:t> complex.</a:t>
            </a:r>
            <a:endParaRPr sz="2000">
              <a:latin typeface="Calibri"/>
              <a:cs typeface="Calibri"/>
            </a:endParaRPr>
          </a:p>
          <a:p>
            <a:pPr marL="368935" marR="1207135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dirty="0">
                <a:latin typeface="Calibri"/>
                <a:cs typeface="Calibri"/>
              </a:rPr>
              <a:t>It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may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have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overfitting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issue,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can</a:t>
            </a:r>
            <a:r>
              <a:rPr sz="2000" dirty="0">
                <a:latin typeface="Calibri"/>
                <a:cs typeface="Calibri"/>
              </a:rPr>
              <a:t> be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resolved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using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Random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Forest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algorithm.</a:t>
            </a:r>
            <a:endParaRPr sz="2000">
              <a:latin typeface="Calibri"/>
              <a:cs typeface="Calibri"/>
            </a:endParaRPr>
          </a:p>
          <a:p>
            <a:pPr marL="368935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spc="-15" dirty="0">
                <a:latin typeface="Calibri"/>
                <a:cs typeface="Calibri"/>
              </a:rPr>
              <a:t>For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more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class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labels,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computational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complexity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5" dirty="0">
                <a:latin typeface="Calibri"/>
                <a:cs typeface="Calibri"/>
              </a:rPr>
              <a:t>decision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tree</a:t>
            </a:r>
            <a:endParaRPr sz="2000">
              <a:latin typeface="Calibri"/>
              <a:cs typeface="Calibri"/>
            </a:endParaRPr>
          </a:p>
          <a:p>
            <a:pPr marL="368935">
              <a:lnSpc>
                <a:spcPct val="100000"/>
              </a:lnSpc>
            </a:pPr>
            <a:r>
              <a:rPr sz="2000" spc="-20" dirty="0">
                <a:latin typeface="Calibri"/>
                <a:cs typeface="Calibri"/>
              </a:rPr>
              <a:t>may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increase.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36201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Sklearn</a:t>
            </a:r>
            <a:r>
              <a:rPr dirty="0"/>
              <a:t> </a:t>
            </a:r>
            <a:r>
              <a:rPr spc="-5" dirty="0"/>
              <a:t>Decision</a:t>
            </a:r>
            <a:r>
              <a:rPr spc="-35" dirty="0"/>
              <a:t> </a:t>
            </a:r>
            <a:r>
              <a:rPr spc="-5" dirty="0"/>
              <a:t>Tree: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5968" y="978408"/>
            <a:ext cx="3697224" cy="26487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52415" y="978408"/>
            <a:ext cx="3694176" cy="264871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75563" y="3542741"/>
            <a:ext cx="7753984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935" marR="5080" indent="-356870">
              <a:lnSpc>
                <a:spcPct val="100000"/>
              </a:lnSpc>
              <a:spcBef>
                <a:spcPts val="105"/>
              </a:spcBef>
              <a:buFont typeface="Segoe UI Symbol"/>
              <a:buChar char="➔"/>
              <a:tabLst>
                <a:tab pos="369570" algn="l"/>
              </a:tabLst>
            </a:pPr>
            <a:r>
              <a:rPr sz="2000" spc="-10" dirty="0">
                <a:latin typeface="Calibri"/>
                <a:cs typeface="Calibri"/>
              </a:rPr>
              <a:t>The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output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completely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different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from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25" dirty="0">
                <a:latin typeface="Calibri"/>
                <a:cs typeface="Calibri"/>
              </a:rPr>
              <a:t>rest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classification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models.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has both vertical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-15" dirty="0">
                <a:latin typeface="Calibri"/>
                <a:cs typeface="Calibri"/>
              </a:rPr>
              <a:t>horizontal </a:t>
            </a:r>
            <a:r>
              <a:rPr sz="2000" spc="-5" dirty="0">
                <a:latin typeface="Calibri"/>
                <a:cs typeface="Calibri"/>
              </a:rPr>
              <a:t>lines that </a:t>
            </a:r>
            <a:r>
              <a:rPr sz="2000" spc="-10" dirty="0">
                <a:latin typeface="Calibri"/>
                <a:cs typeface="Calibri"/>
              </a:rPr>
              <a:t>are </a:t>
            </a:r>
            <a:r>
              <a:rPr sz="2000" spc="-5" dirty="0">
                <a:latin typeface="Calibri"/>
                <a:cs typeface="Calibri"/>
              </a:rPr>
              <a:t>splitting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dataset </a:t>
            </a:r>
            <a:r>
              <a:rPr sz="2000" spc="-5" dirty="0">
                <a:latin typeface="Calibri"/>
                <a:cs typeface="Calibri"/>
              </a:rPr>
              <a:t> according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age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estimated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salary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variables.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dirty="0"/>
              <a:t>31</a:t>
            </a:fld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8295" y="2356561"/>
            <a:ext cx="340296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latin typeface="Arial"/>
                <a:cs typeface="Arial"/>
              </a:rPr>
              <a:t>2.</a:t>
            </a:r>
            <a:r>
              <a:rPr sz="2600" b="1" spc="-45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Ensemble</a:t>
            </a:r>
            <a:r>
              <a:rPr sz="2600" b="1" spc="-25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Methods</a:t>
            </a:r>
            <a:endParaRPr sz="2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dirty="0"/>
              <a:t>32</a:t>
            </a:fld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3188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Ensemble</a:t>
            </a:r>
            <a:r>
              <a:rPr spc="-70" dirty="0"/>
              <a:t> </a:t>
            </a:r>
            <a:r>
              <a:rPr dirty="0"/>
              <a:t>Learning: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5563" y="1133043"/>
            <a:ext cx="677354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935" indent="-356870">
              <a:lnSpc>
                <a:spcPct val="100000"/>
              </a:lnSpc>
              <a:spcBef>
                <a:spcPts val="105"/>
              </a:spcBef>
              <a:buFont typeface="Segoe UI Symbol"/>
              <a:buChar char="➔"/>
              <a:tabLst>
                <a:tab pos="369570" algn="l"/>
              </a:tabLst>
            </a:pPr>
            <a:r>
              <a:rPr sz="2000" spc="-15" dirty="0">
                <a:latin typeface="Calibri"/>
                <a:cs typeface="Calibri"/>
              </a:rPr>
              <a:t>Using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multiple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learning algorithms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together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for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same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task.</a:t>
            </a:r>
            <a:endParaRPr sz="2000">
              <a:latin typeface="Calibri"/>
              <a:cs typeface="Calibri"/>
            </a:endParaRPr>
          </a:p>
          <a:p>
            <a:pPr marL="368935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spc="-25" dirty="0">
                <a:latin typeface="Calibri"/>
                <a:cs typeface="Calibri"/>
              </a:rPr>
              <a:t>Better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predictions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-5" dirty="0">
                <a:latin typeface="Calibri"/>
                <a:cs typeface="Calibri"/>
              </a:rPr>
              <a:t> individual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learning</a:t>
            </a:r>
            <a:r>
              <a:rPr sz="2000" spc="-5" dirty="0">
                <a:latin typeface="Calibri"/>
                <a:cs typeface="Calibri"/>
              </a:rPr>
              <a:t> algorithms.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1975" y="1819656"/>
            <a:ext cx="6480048" cy="273100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dirty="0"/>
              <a:t>33</a:t>
            </a:fld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3188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Ensemble</a:t>
            </a:r>
            <a:r>
              <a:rPr spc="-70" dirty="0"/>
              <a:t> </a:t>
            </a:r>
            <a:r>
              <a:rPr dirty="0"/>
              <a:t>Learning: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095" y="1539240"/>
            <a:ext cx="8369808" cy="250850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dirty="0"/>
              <a:t>34</a:t>
            </a:fld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3188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Ensemble</a:t>
            </a:r>
            <a:r>
              <a:rPr spc="-70" dirty="0"/>
              <a:t> </a:t>
            </a:r>
            <a:r>
              <a:rPr dirty="0"/>
              <a:t>Learning: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dirty="0"/>
              <a:t>35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75563" y="1133043"/>
            <a:ext cx="5050155" cy="27628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935" indent="-356870">
              <a:lnSpc>
                <a:spcPct val="100000"/>
              </a:lnSpc>
              <a:spcBef>
                <a:spcPts val="105"/>
              </a:spcBef>
              <a:buFont typeface="Segoe UI Symbol"/>
              <a:buChar char="➔"/>
              <a:tabLst>
                <a:tab pos="369570" algn="l"/>
              </a:tabLst>
            </a:pPr>
            <a:r>
              <a:rPr sz="2000" spc="-10" dirty="0">
                <a:latin typeface="Calibri"/>
                <a:cs typeface="Calibri"/>
              </a:rPr>
              <a:t>Why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use </a:t>
            </a:r>
            <a:r>
              <a:rPr sz="2000" spc="-15" dirty="0">
                <a:latin typeface="Calibri"/>
                <a:cs typeface="Calibri"/>
              </a:rPr>
              <a:t>Ensemble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Methods?</a:t>
            </a:r>
            <a:endParaRPr sz="20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000" spc="-25" dirty="0">
                <a:latin typeface="Calibri"/>
                <a:cs typeface="Calibri"/>
              </a:rPr>
              <a:t>Better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accuracy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(lower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error).</a:t>
            </a:r>
            <a:endParaRPr sz="20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000" spc="-10" dirty="0">
                <a:latin typeface="Calibri"/>
                <a:cs typeface="Calibri"/>
              </a:rPr>
              <a:t>Higher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consistency </a:t>
            </a:r>
            <a:r>
              <a:rPr sz="2000" spc="-25" dirty="0">
                <a:latin typeface="Calibri"/>
                <a:cs typeface="Calibri"/>
              </a:rPr>
              <a:t>(avoid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over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fitting).</a:t>
            </a:r>
            <a:endParaRPr sz="20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000" spc="-5" dirty="0">
                <a:latin typeface="Calibri"/>
                <a:cs typeface="Calibri"/>
              </a:rPr>
              <a:t>Reduce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bias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variance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errors.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00">
              <a:latin typeface="Calibri"/>
              <a:cs typeface="Calibri"/>
            </a:endParaRPr>
          </a:p>
          <a:p>
            <a:pPr marL="368935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dirty="0">
                <a:latin typeface="Calibri"/>
                <a:cs typeface="Calibri"/>
              </a:rPr>
              <a:t>When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Where</a:t>
            </a:r>
            <a:r>
              <a:rPr sz="2000" spc="-15" dirty="0">
                <a:latin typeface="Calibri"/>
                <a:cs typeface="Calibri"/>
              </a:rPr>
              <a:t> 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use </a:t>
            </a:r>
            <a:r>
              <a:rPr sz="2000" spc="-15" dirty="0">
                <a:latin typeface="Calibri"/>
                <a:cs typeface="Calibri"/>
              </a:rPr>
              <a:t>Ensemble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Methods?</a:t>
            </a:r>
            <a:endParaRPr sz="20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000" spc="-10" dirty="0">
                <a:latin typeface="Calibri"/>
                <a:cs typeface="Calibri"/>
              </a:rPr>
              <a:t>Single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model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over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fits.</a:t>
            </a:r>
            <a:endParaRPr sz="20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000" spc="-20" dirty="0">
                <a:latin typeface="Calibri"/>
                <a:cs typeface="Calibri"/>
              </a:rPr>
              <a:t>Results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worth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extra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training.</a:t>
            </a:r>
            <a:endParaRPr sz="20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000" spc="-10" dirty="0">
                <a:latin typeface="Calibri"/>
                <a:cs typeface="Calibri"/>
              </a:rPr>
              <a:t>Can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10" dirty="0">
                <a:latin typeface="Calibri"/>
                <a:cs typeface="Calibri"/>
              </a:rPr>
              <a:t> used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classification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regression.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53079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Bootstrap</a:t>
            </a:r>
            <a:r>
              <a:rPr spc="-25" dirty="0"/>
              <a:t> </a:t>
            </a:r>
            <a:r>
              <a:rPr dirty="0"/>
              <a:t>Aggregating</a:t>
            </a:r>
            <a:r>
              <a:rPr spc="-25" dirty="0"/>
              <a:t> </a:t>
            </a:r>
            <a:r>
              <a:rPr dirty="0"/>
              <a:t>(Bagging):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5563" y="1133043"/>
            <a:ext cx="730821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935" indent="-356870">
              <a:lnSpc>
                <a:spcPct val="100000"/>
              </a:lnSpc>
              <a:spcBef>
                <a:spcPts val="105"/>
              </a:spcBef>
              <a:buFont typeface="Segoe UI Symbol"/>
              <a:buChar char="➔"/>
              <a:tabLst>
                <a:tab pos="369570" algn="l"/>
              </a:tabLst>
            </a:pPr>
            <a:r>
              <a:rPr sz="2000" dirty="0">
                <a:latin typeface="Calibri"/>
                <a:cs typeface="Calibri"/>
              </a:rPr>
              <a:t>Multiple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models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same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learning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algorithm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trained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subsets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of</a:t>
            </a:r>
            <a:endParaRPr sz="2000">
              <a:latin typeface="Calibri"/>
              <a:cs typeface="Calibri"/>
            </a:endParaRPr>
          </a:p>
          <a:p>
            <a:pPr marL="368935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dataset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randomly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picked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from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training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dataset.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3079" y="1837944"/>
            <a:ext cx="5577840" cy="271272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dirty="0"/>
              <a:t>36</a:t>
            </a:fld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53079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Bootstrap</a:t>
            </a:r>
            <a:r>
              <a:rPr spc="-25" dirty="0"/>
              <a:t> </a:t>
            </a:r>
            <a:r>
              <a:rPr dirty="0"/>
              <a:t>Aggregating</a:t>
            </a:r>
            <a:r>
              <a:rPr spc="-25" dirty="0"/>
              <a:t> </a:t>
            </a:r>
            <a:r>
              <a:rPr dirty="0"/>
              <a:t>(Bagging):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3583" y="914400"/>
            <a:ext cx="6580632" cy="367284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dirty="0"/>
              <a:t>37</a:t>
            </a:fld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15100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Bo</a:t>
            </a:r>
            <a:r>
              <a:rPr dirty="0"/>
              <a:t>o</a:t>
            </a:r>
            <a:r>
              <a:rPr spc="10" dirty="0"/>
              <a:t>s</a:t>
            </a:r>
            <a:r>
              <a:rPr spc="-5" dirty="0"/>
              <a:t>ti</a:t>
            </a:r>
            <a:r>
              <a:rPr dirty="0"/>
              <a:t>n</a:t>
            </a:r>
            <a:r>
              <a:rPr spc="-5" dirty="0"/>
              <a:t>g: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5563" y="1133043"/>
            <a:ext cx="513080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935" indent="-356870">
              <a:lnSpc>
                <a:spcPct val="100000"/>
              </a:lnSpc>
              <a:spcBef>
                <a:spcPts val="105"/>
              </a:spcBef>
              <a:buFont typeface="Segoe UI Symbol"/>
              <a:buChar char="➔"/>
              <a:tabLst>
                <a:tab pos="369570" algn="l"/>
              </a:tabLst>
            </a:pPr>
            <a:r>
              <a:rPr sz="2000" spc="-5" dirty="0">
                <a:latin typeface="Calibri"/>
                <a:cs typeface="Calibri"/>
              </a:rPr>
              <a:t>Little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variation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Bagging.</a:t>
            </a:r>
            <a:endParaRPr sz="2000">
              <a:latin typeface="Calibri"/>
              <a:cs typeface="Calibri"/>
            </a:endParaRPr>
          </a:p>
          <a:p>
            <a:pPr marL="368935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spc="-10" dirty="0">
                <a:latin typeface="Calibri"/>
                <a:cs typeface="Calibri"/>
              </a:rPr>
              <a:t>Selecting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points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give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wrong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predictions.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3079" y="1837944"/>
            <a:ext cx="5577840" cy="271272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dirty="0"/>
              <a:t>38</a:t>
            </a:fld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15100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Bo</a:t>
            </a:r>
            <a:r>
              <a:rPr dirty="0"/>
              <a:t>o</a:t>
            </a:r>
            <a:r>
              <a:rPr spc="10" dirty="0"/>
              <a:t>s</a:t>
            </a:r>
            <a:r>
              <a:rPr spc="-5" dirty="0"/>
              <a:t>ti</a:t>
            </a:r>
            <a:r>
              <a:rPr dirty="0"/>
              <a:t>n</a:t>
            </a:r>
            <a:r>
              <a:rPr spc="-5" dirty="0"/>
              <a:t>g: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7927" y="1420368"/>
            <a:ext cx="7248144" cy="230124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dirty="0"/>
              <a:t>39</a:t>
            </a:fld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289560"/>
            <a:ext cx="8305800" cy="4422775"/>
            <a:chOff x="457200" y="289560"/>
            <a:chExt cx="8305800" cy="44227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2741676"/>
              <a:ext cx="5122164" cy="19705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38600" y="289560"/>
              <a:ext cx="4724400" cy="28956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15100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Bo</a:t>
            </a:r>
            <a:r>
              <a:rPr dirty="0"/>
              <a:t>o</a:t>
            </a:r>
            <a:r>
              <a:rPr spc="10" dirty="0"/>
              <a:t>s</a:t>
            </a:r>
            <a:r>
              <a:rPr spc="-5" dirty="0"/>
              <a:t>ti</a:t>
            </a:r>
            <a:r>
              <a:rPr dirty="0"/>
              <a:t>n</a:t>
            </a:r>
            <a:r>
              <a:rPr spc="-5" dirty="0"/>
              <a:t>g: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dirty="0"/>
              <a:t>40</a:t>
            </a:fld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915" y="243078"/>
            <a:ext cx="17068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Ens</a:t>
            </a:r>
            <a:r>
              <a:rPr dirty="0"/>
              <a:t>e</a:t>
            </a:r>
            <a:r>
              <a:rPr spc="-5" dirty="0"/>
              <a:t>mbl</a:t>
            </a:r>
            <a:r>
              <a:rPr spc="10" dirty="0"/>
              <a:t>e</a:t>
            </a:r>
            <a:r>
              <a:rPr spc="-5" dirty="0"/>
              <a:t>: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31876" y="937260"/>
            <a:ext cx="8304530" cy="3592195"/>
            <a:chOff x="531876" y="937260"/>
            <a:chExt cx="8304530" cy="35921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24199" y="937260"/>
              <a:ext cx="5711952" cy="3276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876" y="2159508"/>
              <a:ext cx="2471928" cy="83058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03804" y="1252728"/>
              <a:ext cx="214883" cy="32766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531366" y="3919220"/>
            <a:ext cx="4603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i="1" spc="-5" dirty="0">
                <a:latin typeface="Calibri"/>
                <a:cs typeface="Calibri"/>
              </a:rPr>
              <a:t>si</a:t>
            </a:r>
            <a:r>
              <a:rPr sz="1400" b="1" i="1" dirty="0">
                <a:latin typeface="Calibri"/>
                <a:cs typeface="Calibri"/>
              </a:rPr>
              <a:t>ngle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1330" y="4469108"/>
            <a:ext cx="459740" cy="42037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85"/>
              </a:spcBef>
            </a:pPr>
            <a:fld id="{81D60167-4931-47E6-BA6A-407CBD079E47}" type="slidenum"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41</a:t>
            </a:fld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8166" y="2356561"/>
            <a:ext cx="648525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latin typeface="Arial"/>
                <a:cs typeface="Arial"/>
              </a:rPr>
              <a:t>3.</a:t>
            </a:r>
            <a:r>
              <a:rPr sz="2600" b="1" spc="-10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Classification</a:t>
            </a:r>
            <a:r>
              <a:rPr sz="2600" b="1" spc="25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Models</a:t>
            </a:r>
            <a:r>
              <a:rPr sz="2600" b="1" spc="-15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-</a:t>
            </a:r>
            <a:r>
              <a:rPr sz="2600" b="1" spc="-35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Random</a:t>
            </a:r>
            <a:r>
              <a:rPr sz="2600" b="1" spc="5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Forest</a:t>
            </a:r>
            <a:endParaRPr sz="2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1330" y="4469108"/>
            <a:ext cx="459740" cy="42037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85"/>
              </a:spcBef>
            </a:pPr>
            <a:fld id="{81D60167-4931-47E6-BA6A-407CBD079E47}" type="slidenum"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42</a:t>
            </a:fld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63754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Random</a:t>
            </a:r>
            <a:r>
              <a:rPr dirty="0"/>
              <a:t> </a:t>
            </a:r>
            <a:r>
              <a:rPr spc="-5" dirty="0"/>
              <a:t>Forest</a:t>
            </a:r>
            <a:r>
              <a:rPr spc="20" dirty="0"/>
              <a:t> </a:t>
            </a:r>
            <a:r>
              <a:rPr dirty="0"/>
              <a:t>Classification </a:t>
            </a:r>
            <a:r>
              <a:rPr spc="-5" dirty="0"/>
              <a:t>Algorithm: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5563" y="1133043"/>
            <a:ext cx="782955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935" marR="5080" indent="-356870">
              <a:lnSpc>
                <a:spcPct val="100000"/>
              </a:lnSpc>
              <a:spcBef>
                <a:spcPts val="105"/>
              </a:spcBef>
              <a:buFont typeface="Segoe UI Symbol"/>
              <a:buChar char="➔"/>
              <a:tabLst>
                <a:tab pos="369570" algn="l"/>
              </a:tabLst>
            </a:pPr>
            <a:r>
              <a:rPr sz="2000" dirty="0">
                <a:latin typeface="Calibri"/>
                <a:cs typeface="Calibri"/>
              </a:rPr>
              <a:t>Random </a:t>
            </a:r>
            <a:r>
              <a:rPr sz="2000" spc="-25" dirty="0">
                <a:latin typeface="Calibri"/>
                <a:cs typeface="Calibri"/>
              </a:rPr>
              <a:t>Forest </a:t>
            </a:r>
            <a:r>
              <a:rPr sz="2000" spc="-5" dirty="0">
                <a:latin typeface="Calibri"/>
                <a:cs typeface="Calibri"/>
              </a:rPr>
              <a:t>is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15" dirty="0">
                <a:latin typeface="Calibri"/>
                <a:cs typeface="Calibri"/>
              </a:rPr>
              <a:t>classifier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that </a:t>
            </a:r>
            <a:r>
              <a:rPr sz="2000" spc="-10" dirty="0">
                <a:latin typeface="Calibri"/>
                <a:cs typeface="Calibri"/>
              </a:rPr>
              <a:t>contains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5" dirty="0">
                <a:latin typeface="Calibri"/>
                <a:cs typeface="Calibri"/>
              </a:rPr>
              <a:t>number </a:t>
            </a:r>
            <a:r>
              <a:rPr sz="2000" dirty="0">
                <a:latin typeface="Calibri"/>
                <a:cs typeface="Calibri"/>
              </a:rPr>
              <a:t>of </a:t>
            </a:r>
            <a:r>
              <a:rPr sz="2000" spc="-15" dirty="0">
                <a:latin typeface="Calibri"/>
                <a:cs typeface="Calibri"/>
              </a:rPr>
              <a:t>decision </a:t>
            </a:r>
            <a:r>
              <a:rPr sz="2000" spc="-20" dirty="0">
                <a:latin typeface="Calibri"/>
                <a:cs typeface="Calibri"/>
              </a:rPr>
              <a:t>trees </a:t>
            </a:r>
            <a:r>
              <a:rPr sz="2000" spc="-5" dirty="0">
                <a:latin typeface="Calibri"/>
                <a:cs typeface="Calibri"/>
              </a:rPr>
              <a:t>on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various</a:t>
            </a:r>
            <a:r>
              <a:rPr sz="2000" spc="-20" dirty="0">
                <a:latin typeface="Calibri"/>
                <a:cs typeface="Calibri"/>
              </a:rPr>
              <a:t> subsets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given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dataset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takes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average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improve 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predictive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accuracy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that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dataset.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7720" y="2087880"/>
            <a:ext cx="4215383" cy="28102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81330" y="4469108"/>
            <a:ext cx="459740" cy="42037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85"/>
              </a:spcBef>
            </a:pPr>
            <a:fld id="{81D60167-4931-47E6-BA6A-407CBD079E47}" type="slidenum"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43</a:t>
            </a:fld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63754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Random</a:t>
            </a:r>
            <a:r>
              <a:rPr dirty="0"/>
              <a:t> </a:t>
            </a:r>
            <a:r>
              <a:rPr spc="-5" dirty="0"/>
              <a:t>Forest</a:t>
            </a:r>
            <a:r>
              <a:rPr spc="20" dirty="0"/>
              <a:t> </a:t>
            </a:r>
            <a:r>
              <a:rPr dirty="0"/>
              <a:t>Classification </a:t>
            </a:r>
            <a:r>
              <a:rPr spc="-5" dirty="0"/>
              <a:t>Algorithm: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5563" y="1133043"/>
            <a:ext cx="7303770" cy="2160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935" marR="5080" indent="-356870">
              <a:lnSpc>
                <a:spcPct val="100000"/>
              </a:lnSpc>
              <a:spcBef>
                <a:spcPts val="105"/>
              </a:spcBef>
              <a:buFont typeface="Segoe UI Symbol"/>
              <a:buChar char="➔"/>
              <a:tabLst>
                <a:tab pos="369570" algn="l"/>
              </a:tabLst>
            </a:pPr>
            <a:r>
              <a:rPr sz="2000" spc="-10" dirty="0">
                <a:latin typeface="Calibri"/>
                <a:cs typeface="Calibri"/>
              </a:rPr>
              <a:t>Instead</a:t>
            </a:r>
            <a:r>
              <a:rPr sz="2000" dirty="0">
                <a:latin typeface="Calibri"/>
                <a:cs typeface="Calibri"/>
              </a:rPr>
              <a:t> of</a:t>
            </a:r>
            <a:r>
              <a:rPr sz="2000" spc="-5" dirty="0">
                <a:latin typeface="Calibri"/>
                <a:cs typeface="Calibri"/>
              </a:rPr>
              <a:t> relying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decision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tree,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random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forest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takes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prediction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from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each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tree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based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majority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votes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predictions, it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predicts</a:t>
            </a:r>
            <a:r>
              <a:rPr sz="2000" dirty="0">
                <a:latin typeface="Calibri"/>
                <a:cs typeface="Calibri"/>
              </a:rPr>
              <a:t> 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final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output.</a:t>
            </a:r>
            <a:endParaRPr sz="2000">
              <a:latin typeface="Calibri"/>
              <a:cs typeface="Calibri"/>
            </a:endParaRPr>
          </a:p>
          <a:p>
            <a:pPr marL="356870" marR="3398520" indent="-344805">
              <a:lnSpc>
                <a:spcPct val="100000"/>
              </a:lnSpc>
              <a:buFont typeface="Segoe UI Symbol"/>
              <a:buChar char="➔"/>
              <a:tabLst>
                <a:tab pos="357505" algn="l"/>
              </a:tabLst>
            </a:pPr>
            <a:r>
              <a:rPr sz="2000" spc="-1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greater</a:t>
            </a:r>
            <a:r>
              <a:rPr sz="2000" spc="4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number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20" dirty="0">
                <a:latin typeface="Calibri"/>
                <a:cs typeface="Calibri"/>
              </a:rPr>
              <a:t> trees</a:t>
            </a:r>
            <a:r>
              <a:rPr sz="2000" spc="4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 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30" dirty="0">
                <a:latin typeface="Calibri"/>
                <a:cs typeface="Calibri"/>
              </a:rPr>
              <a:t>forest </a:t>
            </a:r>
            <a:r>
              <a:rPr sz="2000" dirty="0">
                <a:latin typeface="Calibri"/>
                <a:cs typeface="Calibri"/>
              </a:rPr>
              <a:t>leads </a:t>
            </a:r>
            <a:r>
              <a:rPr sz="2000" spc="-10" dirty="0">
                <a:latin typeface="Calibri"/>
                <a:cs typeface="Calibri"/>
              </a:rPr>
              <a:t>to </a:t>
            </a:r>
            <a:r>
              <a:rPr sz="2000" spc="-5" dirty="0">
                <a:latin typeface="Calibri"/>
                <a:cs typeface="Calibri"/>
              </a:rPr>
              <a:t>higher accuracy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prevents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problem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overfitting.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7720" y="2087880"/>
            <a:ext cx="4215383" cy="28102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81330" y="4469108"/>
            <a:ext cx="459740" cy="42037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85"/>
              </a:spcBef>
            </a:pPr>
            <a:fld id="{81D60167-4931-47E6-BA6A-407CBD079E47}" type="slidenum"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44</a:t>
            </a:fld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75463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How</a:t>
            </a:r>
            <a:r>
              <a:rPr spc="10" dirty="0"/>
              <a:t> </a:t>
            </a:r>
            <a:r>
              <a:rPr spc="-5" dirty="0"/>
              <a:t>Does</a:t>
            </a:r>
            <a:r>
              <a:rPr spc="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5" dirty="0"/>
              <a:t>Random</a:t>
            </a:r>
            <a:r>
              <a:rPr spc="60" dirty="0"/>
              <a:t> </a:t>
            </a:r>
            <a:r>
              <a:rPr spc="-5" dirty="0"/>
              <a:t>Forest</a:t>
            </a:r>
            <a:r>
              <a:rPr spc="-15" dirty="0"/>
              <a:t> </a:t>
            </a:r>
            <a:r>
              <a:rPr spc="-5" dirty="0"/>
              <a:t>Algorithm</a:t>
            </a:r>
            <a:r>
              <a:rPr spc="5" dirty="0"/>
              <a:t> </a:t>
            </a:r>
            <a:r>
              <a:rPr dirty="0"/>
              <a:t>Work?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1330" y="4469108"/>
            <a:ext cx="459740" cy="42037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85"/>
              </a:spcBef>
            </a:pPr>
            <a:fld id="{81D60167-4931-47E6-BA6A-407CBD079E47}" type="slidenum"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45</a:t>
            </a:fld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5563" y="1133043"/>
            <a:ext cx="8071484" cy="3372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Random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Forest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works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two-phase:</a:t>
            </a:r>
            <a:endParaRPr sz="2000">
              <a:latin typeface="Calibri"/>
              <a:cs typeface="Calibri"/>
            </a:endParaRPr>
          </a:p>
          <a:p>
            <a:pPr marL="368935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spc="-25" dirty="0">
                <a:latin typeface="Calibri"/>
                <a:cs typeface="Calibri"/>
              </a:rPr>
              <a:t>First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create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random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forest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combining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decision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tree.</a:t>
            </a:r>
            <a:endParaRPr sz="2000">
              <a:latin typeface="Calibri"/>
              <a:cs typeface="Calibri"/>
            </a:endParaRPr>
          </a:p>
          <a:p>
            <a:pPr marL="368935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second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make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predictions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each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tree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created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first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phase.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Segoe UI Symbol"/>
              <a:buChar char="➔"/>
            </a:pP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Calibri"/>
                <a:cs typeface="Calibri"/>
              </a:rPr>
              <a:t>The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Working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process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explained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below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steps:</a:t>
            </a:r>
            <a:endParaRPr sz="2000">
              <a:latin typeface="Calibri"/>
              <a:cs typeface="Calibri"/>
            </a:endParaRPr>
          </a:p>
          <a:p>
            <a:pPr marL="368935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b="1" spc="-5" dirty="0">
                <a:latin typeface="Calibri"/>
                <a:cs typeface="Calibri"/>
              </a:rPr>
              <a:t>Step-1</a:t>
            </a:r>
            <a:r>
              <a:rPr sz="2000" spc="-5" dirty="0">
                <a:latin typeface="Calibri"/>
                <a:cs typeface="Calibri"/>
              </a:rPr>
              <a:t>: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Select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random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data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points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from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training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set.</a:t>
            </a:r>
            <a:endParaRPr sz="2000">
              <a:latin typeface="Calibri"/>
              <a:cs typeface="Calibri"/>
            </a:endParaRPr>
          </a:p>
          <a:p>
            <a:pPr marL="368935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b="1" spc="-5" dirty="0">
                <a:latin typeface="Calibri"/>
                <a:cs typeface="Calibri"/>
              </a:rPr>
              <a:t>Step-2</a:t>
            </a:r>
            <a:r>
              <a:rPr sz="2000" spc="-5" dirty="0">
                <a:latin typeface="Calibri"/>
                <a:cs typeface="Calibri"/>
              </a:rPr>
              <a:t>: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Build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decision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trees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associated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with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selected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data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points.</a:t>
            </a:r>
            <a:endParaRPr sz="2000">
              <a:latin typeface="Calibri"/>
              <a:cs typeface="Calibri"/>
            </a:endParaRPr>
          </a:p>
          <a:p>
            <a:pPr marL="368935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b="1" spc="-5" dirty="0">
                <a:latin typeface="Calibri"/>
                <a:cs typeface="Calibri"/>
              </a:rPr>
              <a:t>Step-3</a:t>
            </a:r>
            <a:r>
              <a:rPr sz="2000" spc="-5" dirty="0">
                <a:latin typeface="Calibri"/>
                <a:cs typeface="Calibri"/>
              </a:rPr>
              <a:t>:</a:t>
            </a:r>
            <a:r>
              <a:rPr sz="2000" spc="-15" dirty="0">
                <a:latin typeface="Calibri"/>
                <a:cs typeface="Calibri"/>
              </a:rPr>
              <a:t> Choose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</a:t>
            </a:r>
            <a:r>
              <a:rPr sz="2000" spc="-25" dirty="0">
                <a:latin typeface="Calibri"/>
                <a:cs typeface="Calibri"/>
              </a:rPr>
              <a:t> for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decision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trees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that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you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want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build.</a:t>
            </a:r>
            <a:endParaRPr sz="2000">
              <a:latin typeface="Calibri"/>
              <a:cs typeface="Calibri"/>
            </a:endParaRPr>
          </a:p>
          <a:p>
            <a:pPr marL="368935" indent="-356870">
              <a:lnSpc>
                <a:spcPct val="100000"/>
              </a:lnSpc>
              <a:spcBef>
                <a:spcPts val="5"/>
              </a:spcBef>
              <a:buFont typeface="Segoe UI Symbol"/>
              <a:buChar char="➔"/>
              <a:tabLst>
                <a:tab pos="369570" algn="l"/>
              </a:tabLst>
            </a:pPr>
            <a:r>
              <a:rPr sz="2000" b="1" spc="-5" dirty="0">
                <a:latin typeface="Calibri"/>
                <a:cs typeface="Calibri"/>
              </a:rPr>
              <a:t>Step-4</a:t>
            </a:r>
            <a:r>
              <a:rPr sz="2000" spc="-5" dirty="0">
                <a:latin typeface="Calibri"/>
                <a:cs typeface="Calibri"/>
              </a:rPr>
              <a:t>: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Repeat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Step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&amp;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2.</a:t>
            </a:r>
            <a:endParaRPr sz="2000">
              <a:latin typeface="Calibri"/>
              <a:cs typeface="Calibri"/>
            </a:endParaRPr>
          </a:p>
          <a:p>
            <a:pPr marL="368935" marR="5080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b="1" spc="-5" dirty="0">
                <a:latin typeface="Calibri"/>
                <a:cs typeface="Calibri"/>
              </a:rPr>
              <a:t>Step-5</a:t>
            </a:r>
            <a:r>
              <a:rPr sz="2000" spc="-5" dirty="0">
                <a:latin typeface="Calibri"/>
                <a:cs typeface="Calibri"/>
              </a:rPr>
              <a:t>: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For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new </a:t>
            </a:r>
            <a:r>
              <a:rPr sz="2000" spc="-15" dirty="0">
                <a:latin typeface="Calibri"/>
                <a:cs typeface="Calibri"/>
              </a:rPr>
              <a:t>data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points,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find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predictions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each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decision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tree,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assign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new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data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points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category</a:t>
            </a:r>
            <a:r>
              <a:rPr sz="2000" spc="-5" dirty="0">
                <a:latin typeface="Calibri"/>
                <a:cs typeface="Calibri"/>
              </a:rPr>
              <a:t> that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wins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majority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votes.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15005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</a:t>
            </a:r>
            <a:r>
              <a:rPr spc="-35" dirty="0"/>
              <a:t>x</a:t>
            </a:r>
            <a:r>
              <a:rPr spc="-5" dirty="0"/>
              <a:t>am</a:t>
            </a:r>
            <a:r>
              <a:rPr dirty="0"/>
              <a:t>pl</a:t>
            </a:r>
            <a:r>
              <a:rPr spc="-25" dirty="0"/>
              <a:t>e</a:t>
            </a:r>
            <a:r>
              <a:rPr spc="-5" dirty="0"/>
              <a:t>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8839" y="847344"/>
            <a:ext cx="4846320" cy="40386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81330" y="4469108"/>
            <a:ext cx="459740" cy="42037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85"/>
              </a:spcBef>
            </a:pPr>
            <a:fld id="{81D60167-4931-47E6-BA6A-407CBD079E47}" type="slidenum"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46</a:t>
            </a:fld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15005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</a:t>
            </a:r>
            <a:r>
              <a:rPr spc="-35" dirty="0"/>
              <a:t>x</a:t>
            </a:r>
            <a:r>
              <a:rPr spc="-5" dirty="0"/>
              <a:t>am</a:t>
            </a:r>
            <a:r>
              <a:rPr dirty="0"/>
              <a:t>pl</a:t>
            </a:r>
            <a:r>
              <a:rPr spc="-25" dirty="0"/>
              <a:t>e</a:t>
            </a:r>
            <a:r>
              <a:rPr spc="-5" dirty="0"/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5563" y="1133043"/>
            <a:ext cx="7235190" cy="2770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935" indent="-356870">
              <a:lnSpc>
                <a:spcPct val="100000"/>
              </a:lnSpc>
              <a:spcBef>
                <a:spcPts val="105"/>
              </a:spcBef>
              <a:buFont typeface="Segoe UI Symbol"/>
              <a:buChar char="➔"/>
              <a:tabLst>
                <a:tab pos="369570" algn="l"/>
              </a:tabLst>
            </a:pPr>
            <a:r>
              <a:rPr sz="2000" spc="-5" dirty="0">
                <a:latin typeface="Calibri"/>
                <a:cs typeface="Calibri"/>
              </a:rPr>
              <a:t>Suppose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there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dataset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that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contains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multiple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fruit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images.</a:t>
            </a:r>
            <a:endParaRPr sz="2000">
              <a:latin typeface="Calibri"/>
              <a:cs typeface="Calibri"/>
            </a:endParaRPr>
          </a:p>
          <a:p>
            <a:pPr marL="368935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spc="-15" dirty="0">
                <a:latin typeface="Calibri"/>
                <a:cs typeface="Calibri"/>
              </a:rPr>
              <a:t>So,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dataset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given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Random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forest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classifier.</a:t>
            </a:r>
            <a:endParaRPr sz="2000">
              <a:latin typeface="Calibri"/>
              <a:cs typeface="Calibri"/>
            </a:endParaRPr>
          </a:p>
          <a:p>
            <a:pPr marL="368935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spc="-10" dirty="0">
                <a:latin typeface="Calibri"/>
                <a:cs typeface="Calibri"/>
              </a:rPr>
              <a:t>The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dataset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divided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into </a:t>
            </a:r>
            <a:r>
              <a:rPr sz="2000" spc="-20" dirty="0">
                <a:latin typeface="Calibri"/>
                <a:cs typeface="Calibri"/>
              </a:rPr>
              <a:t>subsets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given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dirty="0">
                <a:latin typeface="Calibri"/>
                <a:cs typeface="Calibri"/>
              </a:rPr>
              <a:t> each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decision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tree.</a:t>
            </a:r>
            <a:endParaRPr sz="20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buFont typeface="Segoe UI Symbol"/>
              <a:buChar char="➔"/>
              <a:tabLst>
                <a:tab pos="357505" algn="l"/>
              </a:tabLst>
            </a:pPr>
            <a:r>
              <a:rPr sz="2000" spc="-5" dirty="0">
                <a:latin typeface="Calibri"/>
                <a:cs typeface="Calibri"/>
              </a:rPr>
              <a:t>During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training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phase,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each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decision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tree</a:t>
            </a:r>
            <a:endParaRPr sz="2000">
              <a:latin typeface="Calibri"/>
              <a:cs typeface="Calibri"/>
            </a:endParaRPr>
          </a:p>
          <a:p>
            <a:pPr marL="35687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produces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prediction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result.</a:t>
            </a:r>
            <a:endParaRPr sz="2000">
              <a:latin typeface="Calibri"/>
              <a:cs typeface="Calibri"/>
            </a:endParaRPr>
          </a:p>
          <a:p>
            <a:pPr marL="356870" marR="2721610" indent="-344805">
              <a:lnSpc>
                <a:spcPct val="100000"/>
              </a:lnSpc>
              <a:spcBef>
                <a:spcPts val="5"/>
              </a:spcBef>
              <a:buFont typeface="Segoe UI Symbol"/>
              <a:buChar char="➔"/>
              <a:tabLst>
                <a:tab pos="357505" algn="l"/>
              </a:tabLst>
            </a:pPr>
            <a:r>
              <a:rPr sz="2000" dirty="0">
                <a:latin typeface="Calibri"/>
                <a:cs typeface="Calibri"/>
              </a:rPr>
              <a:t>And when a </a:t>
            </a:r>
            <a:r>
              <a:rPr sz="2000" spc="-5" dirty="0">
                <a:latin typeface="Calibri"/>
                <a:cs typeface="Calibri"/>
              </a:rPr>
              <a:t>new </a:t>
            </a:r>
            <a:r>
              <a:rPr sz="2000" spc="-15" dirty="0">
                <a:latin typeface="Calibri"/>
                <a:cs typeface="Calibri"/>
              </a:rPr>
              <a:t>data </a:t>
            </a:r>
            <a:r>
              <a:rPr sz="2000" spc="-10" dirty="0">
                <a:latin typeface="Calibri"/>
                <a:cs typeface="Calibri"/>
              </a:rPr>
              <a:t>point </a:t>
            </a:r>
            <a:r>
              <a:rPr sz="2000" spc="-20" dirty="0">
                <a:latin typeface="Calibri"/>
                <a:cs typeface="Calibri"/>
              </a:rPr>
              <a:t>occurs, </a:t>
            </a:r>
            <a:r>
              <a:rPr sz="2000" dirty="0">
                <a:latin typeface="Calibri"/>
                <a:cs typeface="Calibri"/>
              </a:rPr>
              <a:t>then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based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majority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results,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Random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Forest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classifier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predicts</a:t>
            </a:r>
            <a:endParaRPr sz="2000">
              <a:latin typeface="Calibri"/>
              <a:cs typeface="Calibri"/>
            </a:endParaRPr>
          </a:p>
          <a:p>
            <a:pPr marL="35687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final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decision.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7359" y="2100072"/>
            <a:ext cx="3331464" cy="277672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81330" y="4469108"/>
            <a:ext cx="459740" cy="42037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85"/>
              </a:spcBef>
            </a:pPr>
            <a:fld id="{81D60167-4931-47E6-BA6A-407CBD079E47}" type="slidenum"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47</a:t>
            </a:fld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5539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Advantages</a:t>
            </a:r>
            <a:r>
              <a:rPr spc="-1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5" dirty="0"/>
              <a:t>the</a:t>
            </a:r>
            <a:r>
              <a:rPr dirty="0"/>
              <a:t> </a:t>
            </a:r>
            <a:r>
              <a:rPr spc="-5" dirty="0"/>
              <a:t>Random</a:t>
            </a:r>
            <a:r>
              <a:rPr spc="15" dirty="0"/>
              <a:t> </a:t>
            </a:r>
            <a:r>
              <a:rPr spc="-5" dirty="0"/>
              <a:t>Forest: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1330" y="4469108"/>
            <a:ext cx="459740" cy="42037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85"/>
              </a:spcBef>
            </a:pPr>
            <a:fld id="{81D60167-4931-47E6-BA6A-407CBD079E47}" type="slidenum"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48</a:t>
            </a:fld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5563" y="1133043"/>
            <a:ext cx="786447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935" indent="-356870">
              <a:lnSpc>
                <a:spcPct val="100000"/>
              </a:lnSpc>
              <a:spcBef>
                <a:spcPts val="105"/>
              </a:spcBef>
              <a:buFont typeface="Segoe UI Symbol"/>
              <a:buChar char="➔"/>
              <a:tabLst>
                <a:tab pos="369570" algn="l"/>
              </a:tabLst>
            </a:pPr>
            <a:r>
              <a:rPr sz="2000" dirty="0">
                <a:latin typeface="Calibri"/>
                <a:cs typeface="Calibri"/>
              </a:rPr>
              <a:t>Random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Forest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capable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performing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both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Classification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  <a:p>
            <a:pPr marL="368935">
              <a:lnSpc>
                <a:spcPct val="100000"/>
              </a:lnSpc>
            </a:pPr>
            <a:r>
              <a:rPr sz="2000" spc="-20" dirty="0">
                <a:latin typeface="Calibri"/>
                <a:cs typeface="Calibri"/>
              </a:rPr>
              <a:t>Regression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tasks.</a:t>
            </a:r>
            <a:endParaRPr sz="2000">
              <a:latin typeface="Calibri"/>
              <a:cs typeface="Calibri"/>
            </a:endParaRPr>
          </a:p>
          <a:p>
            <a:pPr marL="368935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spc="-5" dirty="0">
                <a:latin typeface="Calibri"/>
                <a:cs typeface="Calibri"/>
              </a:rPr>
              <a:t>It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capable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handling </a:t>
            </a:r>
            <a:r>
              <a:rPr sz="2000" spc="-10" dirty="0">
                <a:latin typeface="Calibri"/>
                <a:cs typeface="Calibri"/>
              </a:rPr>
              <a:t>large datasets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with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high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dimensionality.</a:t>
            </a:r>
            <a:endParaRPr sz="2000">
              <a:latin typeface="Calibri"/>
              <a:cs typeface="Calibri"/>
            </a:endParaRPr>
          </a:p>
          <a:p>
            <a:pPr marL="368935" indent="-356870">
              <a:lnSpc>
                <a:spcPct val="100000"/>
              </a:lnSpc>
              <a:buFont typeface="Segoe UI Symbol"/>
              <a:buChar char="➔"/>
              <a:tabLst>
                <a:tab pos="369570" algn="l"/>
              </a:tabLst>
            </a:pPr>
            <a:r>
              <a:rPr sz="2000" spc="-5" dirty="0">
                <a:latin typeface="Calibri"/>
                <a:cs typeface="Calibri"/>
              </a:rPr>
              <a:t>It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enhances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accuracy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model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prevents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overfitting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issue.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60236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Disadvantages</a:t>
            </a:r>
            <a:r>
              <a:rPr spc="4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5" dirty="0"/>
              <a:t>the</a:t>
            </a:r>
            <a:r>
              <a:rPr spc="20" dirty="0"/>
              <a:t> </a:t>
            </a:r>
            <a:r>
              <a:rPr spc="-5" dirty="0"/>
              <a:t>Random</a:t>
            </a:r>
            <a:r>
              <a:rPr spc="55" dirty="0"/>
              <a:t> </a:t>
            </a:r>
            <a:r>
              <a:rPr spc="-5" dirty="0"/>
              <a:t>Forest: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1330" y="4469108"/>
            <a:ext cx="459740" cy="42037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85"/>
              </a:spcBef>
            </a:pPr>
            <a:fld id="{81D60167-4931-47E6-BA6A-407CBD079E47}" type="slidenum"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49</a:t>
            </a:fld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5563" y="1133043"/>
            <a:ext cx="693610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935" indent="-356870">
              <a:lnSpc>
                <a:spcPct val="100000"/>
              </a:lnSpc>
              <a:spcBef>
                <a:spcPts val="105"/>
              </a:spcBef>
              <a:buFont typeface="Segoe UI Symbol"/>
              <a:buChar char="➔"/>
              <a:tabLst>
                <a:tab pos="369570" algn="l"/>
              </a:tabLst>
            </a:pPr>
            <a:r>
              <a:rPr sz="2000" spc="-5" dirty="0">
                <a:latin typeface="Calibri"/>
                <a:cs typeface="Calibri"/>
              </a:rPr>
              <a:t>Although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Random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Forest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 </a:t>
            </a:r>
            <a:r>
              <a:rPr sz="2000" spc="-15" dirty="0">
                <a:latin typeface="Calibri"/>
                <a:cs typeface="Calibri"/>
              </a:rPr>
              <a:t>used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for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both</a:t>
            </a:r>
            <a:r>
              <a:rPr sz="2000" spc="-20" dirty="0">
                <a:latin typeface="Calibri"/>
                <a:cs typeface="Calibri"/>
              </a:rPr>
              <a:t> classification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  <a:p>
            <a:pPr marL="368935">
              <a:lnSpc>
                <a:spcPct val="100000"/>
              </a:lnSpc>
            </a:pPr>
            <a:r>
              <a:rPr sz="2000" spc="-20" dirty="0">
                <a:latin typeface="Calibri"/>
                <a:cs typeface="Calibri"/>
              </a:rPr>
              <a:t>regression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tasks,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it is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more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suitable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Regression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tasks.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427100"/>
            <a:ext cx="38792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Sklearn</a:t>
            </a:r>
            <a:r>
              <a:rPr spc="-10" dirty="0"/>
              <a:t> </a:t>
            </a:r>
            <a:r>
              <a:rPr spc="-5" dirty="0"/>
              <a:t>Random</a:t>
            </a:r>
            <a:r>
              <a:rPr spc="-10" dirty="0"/>
              <a:t> </a:t>
            </a:r>
            <a:r>
              <a:rPr spc="-5" dirty="0"/>
              <a:t>Forest: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5968" y="1487424"/>
            <a:ext cx="3697224" cy="26487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52415" y="1487424"/>
            <a:ext cx="3694176" cy="264871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81330" y="4469108"/>
            <a:ext cx="459740" cy="42037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85"/>
              </a:spcBef>
            </a:pPr>
            <a:fld id="{81D60167-4931-47E6-BA6A-407CBD079E47}" type="slidenum"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50</a:t>
            </a:fld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Words>1905</Words>
  <Application>Microsoft Office PowerPoint</Application>
  <PresentationFormat>Custom</PresentationFormat>
  <Paragraphs>227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Arial</vt:lpstr>
      <vt:lpstr>Arial MT</vt:lpstr>
      <vt:lpstr>Calibri</vt:lpstr>
      <vt:lpstr>Segoe UI Symbol</vt:lpstr>
      <vt:lpstr>Times New Roman</vt:lpstr>
      <vt:lpstr>Office Theme</vt:lpstr>
      <vt:lpstr>Agenda</vt:lpstr>
      <vt:lpstr>1. Classification Models - Decision Tree</vt:lpstr>
      <vt:lpstr>Decision Tree Classification Algorithm:</vt:lpstr>
      <vt:lpstr>Decision Tree Classification Algorithm:</vt:lpstr>
      <vt:lpstr>Decision Tree Terminologies:</vt:lpstr>
      <vt:lpstr>How Does the Decision Tree Algorithm Work?</vt:lpstr>
      <vt:lpstr>Example:</vt:lpstr>
      <vt:lpstr>Example:</vt:lpstr>
      <vt:lpstr>Example:</vt:lpstr>
      <vt:lpstr>Attribute Selection Measures:</vt:lpstr>
      <vt:lpstr>Information Gain:</vt:lpstr>
      <vt:lpstr>Information Gain:</vt:lpstr>
      <vt:lpstr>Information Gain - Entropy Example:</vt:lpstr>
      <vt:lpstr>Information Gain - Complete Example:</vt:lpstr>
      <vt:lpstr>Information Gain - Complete Example:</vt:lpstr>
      <vt:lpstr>Gini Index/Impurity:</vt:lpstr>
      <vt:lpstr>Gini Index/Impurity:</vt:lpstr>
      <vt:lpstr>Gini Index - Complete Example:</vt:lpstr>
      <vt:lpstr>Gini Index - Complete Example:</vt:lpstr>
      <vt:lpstr>Gini Index - Complete Example:</vt:lpstr>
      <vt:lpstr>Decision Tree ID3 Algorithm</vt:lpstr>
      <vt:lpstr>Decision Tree ID3 Algorithm</vt:lpstr>
      <vt:lpstr>PowerPoint Presentation</vt:lpstr>
      <vt:lpstr>Decision Tree ID3 Algorithm</vt:lpstr>
      <vt:lpstr>Decision Tree ID3 Algorithm</vt:lpstr>
      <vt:lpstr>PowerPoint Presentation</vt:lpstr>
      <vt:lpstr>PowerPoint Presentation</vt:lpstr>
      <vt:lpstr>Decision Tree ID3 Algorithm</vt:lpstr>
      <vt:lpstr>Advantages of the Decision Tree:</vt:lpstr>
      <vt:lpstr>Disadvantages of the Decision Tree:</vt:lpstr>
      <vt:lpstr>Sklearn Decision Tree:</vt:lpstr>
      <vt:lpstr>2. Ensemble Methods</vt:lpstr>
      <vt:lpstr>Ensemble Learning:</vt:lpstr>
      <vt:lpstr>Ensemble Learning:</vt:lpstr>
      <vt:lpstr>Ensemble Learning:</vt:lpstr>
      <vt:lpstr>Bootstrap Aggregating (Bagging):</vt:lpstr>
      <vt:lpstr>Bootstrap Aggregating (Bagging):</vt:lpstr>
      <vt:lpstr>Boosting:</vt:lpstr>
      <vt:lpstr>Boosting:</vt:lpstr>
      <vt:lpstr>Boosting:</vt:lpstr>
      <vt:lpstr>Ensemble:</vt:lpstr>
      <vt:lpstr>3. Classification Models - Random Forest</vt:lpstr>
      <vt:lpstr>Random Forest Classification Algorithm:</vt:lpstr>
      <vt:lpstr>Random Forest Classification Algorithm:</vt:lpstr>
      <vt:lpstr>How Does the Random Forest Algorithm Work?</vt:lpstr>
      <vt:lpstr>Example:</vt:lpstr>
      <vt:lpstr>Example:</vt:lpstr>
      <vt:lpstr>Advantages of the Random Forest:</vt:lpstr>
      <vt:lpstr>Disadvantages of the Random Forest:</vt:lpstr>
      <vt:lpstr>Sklearn Random Forest: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Diploma</dc:title>
  <dc:creator>engam</dc:creator>
  <cp:lastModifiedBy>Mohamed Elnomrossie</cp:lastModifiedBy>
  <cp:revision>3</cp:revision>
  <dcterms:created xsi:type="dcterms:W3CDTF">2024-03-17T12:41:46Z</dcterms:created>
  <dcterms:modified xsi:type="dcterms:W3CDTF">2025-08-06T18:28:43Z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2022-05-25T00:00:00Z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2024-03-17T00:00:00Z</vt:filetime>
  </property>
</Properties>
</file>